
<file path=[Content_Types].xml><?xml version="1.0" encoding="utf-8"?>
<Types xmlns="http://schemas.openxmlformats.org/package/2006/content-types">
  <Default Extension="xml" ContentType="application/xml"/>
  <Default Extension="bin" ContentType="application/vnd.openxmlformats-officedocument.presentationml.printerSettings"/>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EB70D25C-9287-4ABB-816C-F33290CC7136}">
  <a:tblStyle styleId="{EB70D25C-9287-4ABB-816C-F33290CC7136}" styleName="Table_0">
    <a:wholeTbl>
      <a:tcStyle>
        <a:tcBdr>
          <a:left>
            <a:ln w="9525" cap="flat">
              <a:solidFill>
                <a:srgbClr val="000000"/>
              </a:solidFill>
              <a:prstDash val="solid"/>
              <a:round/>
              <a:headEnd type="none" w="med" len="med"/>
              <a:tailEnd type="none" w="med" len="med"/>
            </a:ln>
          </a:left>
          <a:right>
            <a:ln w="9525" cap="flat">
              <a:solidFill>
                <a:srgbClr val="000000"/>
              </a:solidFill>
              <a:prstDash val="solid"/>
              <a:round/>
              <a:headEnd type="none" w="med" len="med"/>
              <a:tailEnd type="none" w="med" len="med"/>
            </a:ln>
          </a:right>
          <a:top>
            <a:ln w="9525" cap="flat">
              <a:solidFill>
                <a:srgbClr val="000000"/>
              </a:solidFill>
              <a:prstDash val="solid"/>
              <a:round/>
              <a:headEnd type="none" w="med" len="med"/>
              <a:tailEnd type="none" w="med" len="med"/>
            </a:ln>
          </a:top>
          <a:bottom>
            <a:ln w="9525" cap="flat">
              <a:solidFill>
                <a:srgbClr val="000000"/>
              </a:solidFill>
              <a:prstDash val="solid"/>
              <a:round/>
              <a:headEnd type="none" w="med" len="med"/>
              <a:tailEnd type="none" w="med" len="med"/>
            </a:ln>
          </a:bottom>
          <a:insideH>
            <a:ln w="9525" cap="flat">
              <a:solidFill>
                <a:srgbClr val="000000"/>
              </a:solidFill>
              <a:prstDash val="solid"/>
              <a:round/>
              <a:headEnd type="none" w="med" len="med"/>
              <a:tailEnd type="none" w="med" len="med"/>
            </a:ln>
          </a:insideH>
          <a:insideV>
            <a:ln w="9525" cap="flat">
              <a:solidFill>
                <a:srgbClr val="000000"/>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5" d="100"/>
          <a:sy n="85" d="100"/>
        </p:scale>
        <p:origin x="-1672" y="-104"/>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notesMaster" Target="notesMasters/notesMaster1.xml"/><Relationship Id="rId21" Type="http://schemas.openxmlformats.org/officeDocument/2006/relationships/printerSettings" Target="printerSettings/printerSettings1.bin"/><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 name="Shape 3"/>
          <p:cNvSpPr txBox="1">
            <a:spLocks noGrp="1"/>
          </p:cNvSpPr>
          <p:nvPr>
            <p:ph type="body" idx="1"/>
          </p:nvPr>
        </p:nvSpPr>
        <p:spPr>
          <a:xfrm>
            <a:off x="685800" y="4343400"/>
            <a:ext cx="5486399" cy="4114800"/>
          </a:xfrm>
          <a:prstGeom prst="rect">
            <a:avLst/>
          </a:prstGeom>
        </p:spPr>
        <p:txBody>
          <a:bodyPr lIns="91425" tIns="91425" rIns="91425" bIns="91425" anchor="t" anchorCtr="0"/>
          <a:lstStyle>
            <a:lvl1pPr>
              <a:defRPr sz="1100"/>
            </a:lvl1pPr>
            <a:lvl2pPr>
              <a:defRPr sz="1100"/>
            </a:lvl2pPr>
            <a:lvl3pPr>
              <a:defRPr sz="1100"/>
            </a:lvl3pPr>
            <a:lvl4pPr>
              <a:defRPr sz="1100"/>
            </a:lvl4pPr>
            <a:lvl5pPr>
              <a:defRPr sz="1100"/>
            </a:lvl5pPr>
            <a:lvl6pPr>
              <a:defRPr sz="1100"/>
            </a:lvl6pPr>
            <a:lvl7pPr>
              <a:defRPr sz="1100"/>
            </a:lvl7pPr>
            <a:lvl8pPr>
              <a:defRPr sz="1100"/>
            </a:lvl8pPr>
            <a:lvl9pPr>
              <a:defRPr sz="1100"/>
            </a:lvl9pPr>
          </a:lstStyle>
          <a:p>
            <a:endParaRPr/>
          </a:p>
        </p:txBody>
      </p:sp>
    </p:spTree>
    <p:extLst>
      <p:ext uri="{BB962C8B-B14F-4D97-AF65-F5344CB8AC3E}">
        <p14:creationId xmlns:p14="http://schemas.microsoft.com/office/powerpoint/2010/main" val="300678646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Shape 10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2" name="Shape 10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Shape 107"/>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8" name="Shape 10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3" name="Shape 11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buNone/>
            </a:pPr>
            <a:r>
              <a:rPr lang="en"/>
              <a:t>Talking points:</a:t>
            </a:r>
          </a:p>
          <a:p>
            <a:endParaRPr lang="en"/>
          </a:p>
          <a:p>
            <a:pPr lvl="0" rtl="0">
              <a:buNone/>
            </a:pPr>
            <a:r>
              <a:rPr lang="en"/>
              <a:t>1) Personal introductions (Andrew:  background, role; and Johanna:  background, role), </a:t>
            </a:r>
          </a:p>
          <a:p>
            <a:endParaRPr lang="en"/>
          </a:p>
          <a:p>
            <a:pPr lvl="0" rtl="0">
              <a:buNone/>
            </a:pPr>
            <a:r>
              <a:rPr lang="en"/>
              <a:t>2) what COS does in the broadest sense:  promoting openness, integrity, transparency, and reproducibility in scientific research.   </a:t>
            </a:r>
          </a:p>
          <a:p>
            <a:endParaRPr lang="en"/>
          </a:p>
          <a:p>
            <a:pPr lvl="0" rtl="0">
              <a:buNone/>
            </a:pPr>
            <a:r>
              <a:rPr lang="en"/>
              <a:t>nothing about center mission at this point</a:t>
            </a:r>
          </a:p>
          <a:p>
            <a:endParaRPr lang="en"/>
          </a:p>
          <a:p>
            <a:pPr>
              <a:buNone/>
            </a:pPr>
            <a:r>
              <a:rPr lang="en"/>
              <a:t>go through slides/photos as we talk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Shape 118"/>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9" name="Shape 11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buNone/>
            </a:pPr>
            <a:r>
              <a:rPr lang="en">
                <a:solidFill>
                  <a:schemeClr val="dk1"/>
                </a:solidFill>
              </a:rPr>
              <a:t>Talking points:</a:t>
            </a:r>
          </a:p>
          <a:p>
            <a:endParaRPr lang="en">
              <a:solidFill>
                <a:schemeClr val="dk1"/>
              </a:solidFill>
            </a:endParaRPr>
          </a:p>
          <a:p>
            <a:pPr lvl="0" rtl="0">
              <a:buNone/>
            </a:pPr>
            <a:r>
              <a:rPr lang="en">
                <a:solidFill>
                  <a:schemeClr val="dk1"/>
                </a:solidFill>
              </a:rPr>
              <a:t>1) when we were founded,</a:t>
            </a:r>
          </a:p>
          <a:p>
            <a:pPr lvl="0" rtl="0">
              <a:buNone/>
            </a:pPr>
            <a:r>
              <a:rPr lang="en">
                <a:solidFill>
                  <a:schemeClr val="dk1"/>
                </a:solidFill>
              </a:rPr>
              <a:t> </a:t>
            </a:r>
          </a:p>
          <a:p>
            <a:pPr lvl="0" rtl="0">
              <a:buNone/>
            </a:pPr>
            <a:r>
              <a:rPr lang="en">
                <a:solidFill>
                  <a:schemeClr val="dk1"/>
                </a:solidFill>
              </a:rPr>
              <a:t>2) how we’re funded (L&amp;J Arnold Foundation, Sloan, grants, etc.)</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Shape 124"/>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5" name="Shape 12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buNone/>
            </a:pPr>
            <a:r>
              <a:rPr lang="en"/>
              <a:t>Talking points:</a:t>
            </a:r>
          </a:p>
          <a:p>
            <a:endParaRPr lang="en"/>
          </a:p>
          <a:p>
            <a:pPr>
              <a:buNone/>
            </a:pPr>
            <a:r>
              <a:rPr lang="en"/>
              <a:t>1) note our co-founders, Brian and Jeff, at the White House “Open Science Champions of Change” event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Shape 130"/>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1" name="Shape 13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buNone/>
            </a:pPr>
            <a:r>
              <a:rPr lang="en"/>
              <a:t>Talking points:</a:t>
            </a:r>
          </a:p>
          <a:p>
            <a:endParaRPr lang="en"/>
          </a:p>
          <a:p>
            <a:pPr lvl="0" rtl="0">
              <a:buNone/>
            </a:pPr>
            <a:r>
              <a:rPr lang="en"/>
              <a:t>1) we function like a tech start-up, with many of our resources going towards software development</a:t>
            </a:r>
          </a:p>
          <a:p>
            <a:endParaRPr lang="en"/>
          </a:p>
          <a:p>
            <a:pPr>
              <a:buNone/>
            </a:pPr>
            <a:r>
              <a:rPr lang="en"/>
              <a:t>2) today we are going to talk about how we are applying that approach to enable open science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buNone/>
            </a:pPr>
            <a:r>
              <a:rPr lang="en"/>
              <a:t>Talking points:  </a:t>
            </a:r>
          </a:p>
          <a:p>
            <a:endParaRPr lang="en"/>
          </a:p>
          <a:p>
            <a:pPr lvl="0" rtl="0">
              <a:buNone/>
            </a:pPr>
            <a:r>
              <a:rPr lang="en"/>
              <a:t>1) I hope it is fair to say that we are all here because we share the same ideals and are invested in increasing transparency in social sciences</a:t>
            </a:r>
          </a:p>
          <a:p>
            <a:pPr lvl="0" rtl="0">
              <a:buNone/>
            </a:pPr>
            <a:r>
              <a:rPr lang="en"/>
              <a:t>2) Main goals in scientific research are simple and what we list above:  innovative ideas, reproducible results, accumulation of knowledge</a:t>
            </a:r>
          </a:p>
          <a:p>
            <a:pPr lvl="0" rtl="0">
              <a:buNone/>
            </a:pPr>
            <a:r>
              <a:rPr lang="en"/>
              <a:t>3) This isn’t really anything new, and has been the case for hundreds of years.</a:t>
            </a:r>
          </a:p>
          <a:p>
            <a:endParaRPr lang="e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Shape 142"/>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3" name="Shape 14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buNone/>
            </a:pPr>
            <a:r>
              <a:rPr lang="en" sz="1000">
                <a:solidFill>
                  <a:schemeClr val="dk1"/>
                </a:solidFill>
              </a:rPr>
              <a:t>Talking points:</a:t>
            </a:r>
          </a:p>
          <a:p>
            <a:endParaRPr lang="en" sz="1000">
              <a:solidFill>
                <a:schemeClr val="dk1"/>
              </a:solidFill>
            </a:endParaRPr>
          </a:p>
          <a:p>
            <a:pPr lvl="0" rtl="0">
              <a:buNone/>
            </a:pPr>
            <a:r>
              <a:rPr lang="en" sz="1000">
                <a:solidFill>
                  <a:schemeClr val="dk1"/>
                </a:solidFill>
              </a:rPr>
              <a:t>1)  So what’s the problem?  There are some problems with the methods...for decades we’ve realized some parts of the scientific process aren’t functioning properly, like the items listed here:  low power, questionable research practices, overabundance of positive results, ignoring null results, lack of replication, limitations of null hypothesis statistical testing.</a:t>
            </a:r>
          </a:p>
          <a:p>
            <a:endParaRPr lang="en" sz="1000">
              <a:solidFill>
                <a:schemeClr val="dk1"/>
              </a:solidFill>
            </a:endParaRPr>
          </a:p>
          <a:p>
            <a:pPr lvl="0" rtl="0">
              <a:buNone/>
            </a:pPr>
            <a:r>
              <a:rPr lang="en" sz="1000">
                <a:solidFill>
                  <a:schemeClr val="dk1"/>
                </a:solidFill>
              </a:rPr>
              <a:t>2)   This has been talked about for decades and is not new for anyone in the room here.  The citations at the bottom show a few samples of notable works looking at these issues over the past 50+ years. (point out the dates in the citations).</a:t>
            </a:r>
          </a:p>
          <a:p>
            <a:endParaRPr lang="en" sz="1000">
              <a:solidFill>
                <a:schemeClr val="dk1"/>
              </a:solidFill>
            </a:endParaRPr>
          </a:p>
          <a:p>
            <a:endParaRPr lang="en" sz="1000">
              <a:solidFill>
                <a:schemeClr val="dk1"/>
              </a:solidFill>
            </a:endParaRPr>
          </a:p>
          <a:p>
            <a:endParaRPr lang="en" sz="10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lnSpc>
                <a:spcPct val="115000"/>
              </a:lnSpc>
              <a:buNone/>
            </a:pPr>
            <a:r>
              <a:rPr lang="en">
                <a:solidFill>
                  <a:schemeClr val="dk1"/>
                </a:solidFill>
              </a:rPr>
              <a:t>Talking points:</a:t>
            </a:r>
          </a:p>
          <a:p>
            <a:endParaRPr lang="en">
              <a:solidFill>
                <a:schemeClr val="dk1"/>
              </a:solidFill>
            </a:endParaRPr>
          </a:p>
          <a:p>
            <a:pPr lvl="0" rtl="0">
              <a:lnSpc>
                <a:spcPct val="115000"/>
              </a:lnSpc>
              <a:buNone/>
            </a:pPr>
            <a:r>
              <a:rPr lang="en">
                <a:solidFill>
                  <a:schemeClr val="dk1"/>
                </a:solidFill>
              </a:rPr>
              <a:t>1)  But, it’s more than just a methods problem….We presume that almost everybody wants to do the right thing and do science the right way, but there simply certain barriers and disincentives in doing so.</a:t>
            </a:r>
          </a:p>
          <a:p>
            <a:endParaRPr lang="en">
              <a:solidFill>
                <a:schemeClr val="dk1"/>
              </a:solidFill>
            </a:endParaRPr>
          </a:p>
          <a:p>
            <a:pPr lvl="0" rtl="0">
              <a:lnSpc>
                <a:spcPct val="115000"/>
              </a:lnSpc>
              <a:buNone/>
            </a:pPr>
            <a:r>
              <a:rPr lang="en">
                <a:solidFill>
                  <a:schemeClr val="dk1"/>
                </a:solidFill>
              </a:rPr>
              <a:t>2) Some of it is a matter of incentives….Good careers are built on good publishing which is built on novel and positive results, thus the literature is biased and unchallenged.  </a:t>
            </a:r>
          </a:p>
          <a:p>
            <a:endParaRPr lang="en">
              <a:solidFill>
                <a:schemeClr val="dk1"/>
              </a:solidFill>
            </a:endParaRPr>
          </a:p>
          <a:p>
            <a:pPr lvl="0" rtl="0">
              <a:lnSpc>
                <a:spcPct val="115000"/>
              </a:lnSpc>
              <a:buNone/>
            </a:pPr>
            <a:r>
              <a:rPr lang="en">
                <a:solidFill>
                  <a:schemeClr val="dk1"/>
                </a:solidFill>
              </a:rPr>
              <a:t>3)  And some is a matter of personal barriers...subconscious biases make it easier to accept confirmations and harshly judge null results.  Hindsight affects reporting practices.</a:t>
            </a:r>
          </a:p>
          <a:p>
            <a:endParaRPr lang="en">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Shape 154"/>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5" name="Shape 15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buNone/>
            </a:pPr>
            <a:r>
              <a:rPr lang="en"/>
              <a:t>Talking points:</a:t>
            </a:r>
          </a:p>
          <a:p>
            <a:endParaRPr lang="en"/>
          </a:p>
          <a:p>
            <a:pPr lvl="0" rtl="0">
              <a:buNone/>
            </a:pPr>
            <a:r>
              <a:rPr lang="en"/>
              <a:t>1) To complement the noting of problems, there have been many solutions proposed.  Examples include approaches in increasing transparency, distinguishing confirmatory vs. exploratory research, replication, aggregation of evidence, and narrow use of NHST.</a:t>
            </a:r>
          </a:p>
          <a:p>
            <a:endParaRPr lang="en"/>
          </a:p>
          <a:p>
            <a:pPr>
              <a:buNone/>
            </a:pPr>
            <a:r>
              <a:rPr lang="en"/>
              <a:t>2)  These aren’t new ideas either...again see the same list of citations from the past 50+ years..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Shape 159"/>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0" name="Shape 16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buNone/>
            </a:pPr>
            <a:r>
              <a:rPr lang="en"/>
              <a:t>Talking points:</a:t>
            </a:r>
          </a:p>
          <a:p>
            <a:endParaRPr lang="en"/>
          </a:p>
          <a:p>
            <a:pPr lvl="0" rtl="0">
              <a:buNone/>
            </a:pPr>
            <a:r>
              <a:rPr lang="en"/>
              <a:t>So...why are we here?</a:t>
            </a:r>
          </a:p>
          <a:p>
            <a:endParaRPr lang="en"/>
          </a:p>
          <a:p>
            <a:pPr lvl="0" rtl="0">
              <a:buNone/>
            </a:pPr>
            <a:r>
              <a:rPr lang="en"/>
              <a:t>1)  We’ve all identified problems</a:t>
            </a:r>
          </a:p>
          <a:p>
            <a:endParaRPr lang="en"/>
          </a:p>
          <a:p>
            <a:pPr lvl="0" rtl="0">
              <a:buNone/>
            </a:pPr>
            <a:r>
              <a:rPr lang="en"/>
              <a:t>2)  We’ve all identified solutions</a:t>
            </a:r>
          </a:p>
          <a:p>
            <a:endParaRPr lang="en"/>
          </a:p>
          <a:p>
            <a:pPr lvl="0" rtl="0">
              <a:buNone/>
            </a:pPr>
            <a:r>
              <a:rPr lang="en"/>
              <a:t>3)  We haven’t connected these very well in the implementation.</a:t>
            </a:r>
          </a:p>
          <a:p>
            <a:endParaRPr lang="en"/>
          </a:p>
          <a:p>
            <a:endParaRPr lang="en"/>
          </a:p>
          <a:p>
            <a:pPr>
              <a:buNone/>
            </a:pPr>
            <a:r>
              <a:rPr lang="en" u="sng"/>
              <a:t>Major takeaway:</a:t>
            </a:r>
            <a:r>
              <a:rPr lang="en"/>
              <a:t>  we’re here to talk about the strategy that we are taking to try and address this implementation issue, and tomorrow’s BITSS meeting will be full of discussions on the various pieces of this implementation and how it all might fit together.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Shape 168"/>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9" name="Shape 16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0" lvl="0" indent="0" rtl="0">
              <a:lnSpc>
                <a:spcPct val="115000"/>
              </a:lnSpc>
              <a:buNone/>
            </a:pPr>
            <a:r>
              <a:rPr lang="en" sz="1000">
                <a:solidFill>
                  <a:schemeClr val="dk1"/>
                </a:solidFill>
              </a:rPr>
              <a:t>Talking points:</a:t>
            </a:r>
          </a:p>
          <a:p>
            <a:endParaRPr lang="en" sz="1000">
              <a:solidFill>
                <a:schemeClr val="dk1"/>
              </a:solidFill>
            </a:endParaRPr>
          </a:p>
          <a:p>
            <a:pPr marL="0" lvl="0" indent="0" rtl="0">
              <a:lnSpc>
                <a:spcPct val="115000"/>
              </a:lnSpc>
              <a:buNone/>
            </a:pPr>
            <a:r>
              <a:rPr lang="en" sz="1000">
                <a:solidFill>
                  <a:schemeClr val="dk1"/>
                </a:solidFill>
              </a:rPr>
              <a:t>1)  We’re a non-profit tech start-up, with the main mission of increasing the openness, integrity, transparency, and the reproducibility of scientific research.  </a:t>
            </a:r>
          </a:p>
          <a:p>
            <a:endParaRPr lang="en" sz="1000">
              <a:solidFill>
                <a:schemeClr val="dk1"/>
              </a:solidFill>
            </a:endParaRPr>
          </a:p>
          <a:p>
            <a:pPr marL="0" lvl="0" indent="0" rtl="0">
              <a:lnSpc>
                <a:spcPct val="115000"/>
              </a:lnSpc>
              <a:buNone/>
            </a:pPr>
            <a:r>
              <a:rPr lang="en" sz="1000">
                <a:solidFill>
                  <a:schemeClr val="dk1"/>
                </a:solidFill>
              </a:rPr>
              <a:t>2) We have three main areas of activity to address the problems with incentives and personal barriers which we mentioned previously:  1) enabling metascience research, 2) building community, and 3) developing infrastructure in the form of OSF.  </a:t>
            </a:r>
          </a:p>
          <a:p>
            <a:endParaRPr lang="en" sz="1000">
              <a:solidFill>
                <a:schemeClr val="dk1"/>
              </a:solidFill>
            </a:endParaRPr>
          </a:p>
          <a:p>
            <a:endParaRPr lang="en" sz="1000">
              <a:solidFill>
                <a:schemeClr val="dk1"/>
              </a:solidFill>
            </a:endParaRPr>
          </a:p>
          <a:p>
            <a:pPr marL="0" lvl="0" indent="0" rtl="0">
              <a:lnSpc>
                <a:spcPct val="115000"/>
              </a:lnSpc>
              <a:buNone/>
            </a:pPr>
            <a:r>
              <a:rPr lang="en" sz="1000">
                <a:solidFill>
                  <a:schemeClr val="dk1"/>
                </a:solidFill>
              </a:rPr>
              <a:t>details to have on hand</a:t>
            </a:r>
          </a:p>
          <a:p>
            <a:endParaRPr lang="en" sz="1000">
              <a:solidFill>
                <a:schemeClr val="dk1"/>
              </a:solidFill>
            </a:endParaRPr>
          </a:p>
          <a:p>
            <a:pPr marL="0" lvl="0" indent="0" rtl="0">
              <a:lnSpc>
                <a:spcPct val="115000"/>
              </a:lnSpc>
              <a:buNone/>
            </a:pPr>
            <a:r>
              <a:rPr lang="en" sz="1000">
                <a:solidFill>
                  <a:schemeClr val="dk1"/>
                </a:solidFill>
              </a:rPr>
              <a:t>Change the incentive structure without creating more hurdles</a:t>
            </a:r>
          </a:p>
          <a:p>
            <a:pPr lvl="1" rtl="0">
              <a:buClr>
                <a:schemeClr val="dk1"/>
              </a:buClr>
              <a:buSzPct val="25000"/>
              <a:buFont typeface="Arial"/>
              <a:buNone/>
            </a:pPr>
            <a:r>
              <a:rPr lang="en" sz="1000">
                <a:solidFill>
                  <a:schemeClr val="dk1"/>
                </a:solidFill>
              </a:rPr>
              <a:t>Increase accountability to self and others</a:t>
            </a:r>
          </a:p>
          <a:p>
            <a:pPr lvl="1" rtl="0">
              <a:buClr>
                <a:schemeClr val="dk1"/>
              </a:buClr>
              <a:buSzPct val="25000"/>
              <a:buFont typeface="Arial"/>
              <a:buNone/>
            </a:pPr>
            <a:r>
              <a:rPr lang="en" sz="1000">
                <a:solidFill>
                  <a:schemeClr val="dk1"/>
                </a:solidFill>
              </a:rPr>
              <a:t>Increase discoverability of materials, data, and workflow</a:t>
            </a:r>
          </a:p>
          <a:p>
            <a:pPr lvl="0" rtl="0">
              <a:buClr>
                <a:schemeClr val="dk1"/>
              </a:buClr>
              <a:buSzPct val="110000"/>
              <a:buFont typeface="Arial"/>
              <a:buNone/>
            </a:pPr>
            <a:r>
              <a:rPr lang="en" sz="1000">
                <a:solidFill>
                  <a:schemeClr val="dk1"/>
                </a:solidFill>
              </a:rPr>
              <a:t>Respect existing workflow</a:t>
            </a:r>
          </a:p>
          <a:p>
            <a:pPr marL="914400" lvl="1" indent="-292100" rtl="0">
              <a:lnSpc>
                <a:spcPct val="115000"/>
              </a:lnSpc>
              <a:buClr>
                <a:schemeClr val="dk1"/>
              </a:buClr>
              <a:buSzPct val="100000"/>
              <a:buFont typeface="Arial"/>
              <a:buChar char="○"/>
            </a:pPr>
            <a:r>
              <a:rPr lang="en" sz="1000">
                <a:solidFill>
                  <a:schemeClr val="dk1"/>
                </a:solidFill>
              </a:rPr>
              <a:t>infrastructure - OSF</a:t>
            </a:r>
          </a:p>
          <a:p>
            <a:pPr marL="1371600" lvl="2" indent="-292100" rtl="0">
              <a:lnSpc>
                <a:spcPct val="115000"/>
              </a:lnSpc>
              <a:buClr>
                <a:schemeClr val="dk1"/>
              </a:buClr>
              <a:buSzPct val="100000"/>
              <a:buFont typeface="Arial"/>
              <a:buChar char="■"/>
            </a:pPr>
            <a:r>
              <a:rPr lang="en" sz="1000">
                <a:solidFill>
                  <a:schemeClr val="dk1"/>
                </a:solidFill>
              </a:rPr>
              <a:t>major arm of COS</a:t>
            </a:r>
          </a:p>
          <a:p>
            <a:pPr marL="1371600" lvl="2" indent="-292100" rtl="0">
              <a:lnSpc>
                <a:spcPct val="115000"/>
              </a:lnSpc>
              <a:buClr>
                <a:schemeClr val="dk1"/>
              </a:buClr>
              <a:buSzPct val="100000"/>
              <a:buFont typeface="Arial"/>
              <a:buChar char="■"/>
            </a:pPr>
            <a:r>
              <a:rPr lang="en" sz="1000">
                <a:solidFill>
                  <a:schemeClr val="dk1"/>
                </a:solidFill>
              </a:rPr>
              <a:t>Workflow software to help researchers organize, archive, and connect</a:t>
            </a:r>
          </a:p>
          <a:p>
            <a:pPr marL="1371600" lvl="2" indent="-292100" rtl="0">
              <a:lnSpc>
                <a:spcPct val="115000"/>
              </a:lnSpc>
              <a:buClr>
                <a:schemeClr val="dk1"/>
              </a:buClr>
              <a:buSzPct val="100000"/>
              <a:buFont typeface="Arial"/>
              <a:buChar char="■"/>
            </a:pPr>
            <a:r>
              <a:rPr lang="en" sz="1000">
                <a:solidFill>
                  <a:schemeClr val="dk1"/>
                </a:solidFill>
              </a:rPr>
              <a:t>Built flexibly so nothing is mandated: tools to support your individual workflow</a:t>
            </a:r>
          </a:p>
          <a:p>
            <a:pPr marL="1371600" lvl="2" indent="-292100" rtl="0">
              <a:lnSpc>
                <a:spcPct val="115000"/>
              </a:lnSpc>
              <a:buClr>
                <a:schemeClr val="dk1"/>
              </a:buClr>
              <a:buSzPct val="100000"/>
              <a:buFont typeface="Arial"/>
              <a:buChar char="■"/>
            </a:pPr>
            <a:r>
              <a:rPr lang="en" sz="1000">
                <a:solidFill>
                  <a:schemeClr val="dk1"/>
                </a:solidFill>
              </a:rPr>
              <a:t>provides altmetrics</a:t>
            </a:r>
          </a:p>
          <a:p>
            <a:pPr marL="914400" lvl="1" indent="-292100" rtl="0">
              <a:lnSpc>
                <a:spcPct val="115000"/>
              </a:lnSpc>
              <a:buClr>
                <a:schemeClr val="dk1"/>
              </a:buClr>
              <a:buSzPct val="100000"/>
              <a:buFont typeface="Arial"/>
              <a:buChar char="○"/>
            </a:pPr>
            <a:r>
              <a:rPr lang="en" sz="1000">
                <a:solidFill>
                  <a:schemeClr val="dk1"/>
                </a:solidFill>
              </a:rPr>
              <a:t>community: transparent practices</a:t>
            </a:r>
          </a:p>
          <a:p>
            <a:pPr marL="1371600" lvl="2" indent="-292100" rtl="0">
              <a:lnSpc>
                <a:spcPct val="115000"/>
              </a:lnSpc>
              <a:buClr>
                <a:schemeClr val="dk1"/>
              </a:buClr>
              <a:buSzPct val="100000"/>
              <a:buFont typeface="Arial"/>
              <a:buChar char="■"/>
            </a:pPr>
            <a:r>
              <a:rPr lang="en" sz="1000">
                <a:solidFill>
                  <a:schemeClr val="dk1"/>
                </a:solidFill>
              </a:rPr>
              <a:t>Offer a place to use and improve programming skills while making an important impact</a:t>
            </a:r>
          </a:p>
          <a:p>
            <a:pPr marL="1371600" lvl="2" indent="-292100" rtl="0">
              <a:lnSpc>
                <a:spcPct val="115000"/>
              </a:lnSpc>
              <a:buClr>
                <a:schemeClr val="dk1"/>
              </a:buClr>
              <a:buSzPct val="100000"/>
              <a:buFont typeface="Arial"/>
              <a:buChar char="■"/>
            </a:pPr>
            <a:r>
              <a:rPr lang="en" sz="1000">
                <a:solidFill>
                  <a:schemeClr val="dk1"/>
                </a:solidFill>
              </a:rPr>
              <a:t>Designed badges to recognize open practices: indicates that they are valued; offer these freely to any journal or organization that wants to sign on</a:t>
            </a:r>
          </a:p>
          <a:p>
            <a:pPr marL="1371600" lvl="2" indent="-292100" rtl="0">
              <a:lnSpc>
                <a:spcPct val="115000"/>
              </a:lnSpc>
              <a:buClr>
                <a:schemeClr val="dk1"/>
              </a:buClr>
              <a:buSzPct val="100000"/>
              <a:buFont typeface="Arial"/>
              <a:buChar char="■"/>
            </a:pPr>
            <a:r>
              <a:rPr lang="en" sz="1000">
                <a:solidFill>
                  <a:schemeClr val="dk1"/>
                </a:solidFill>
              </a:rPr>
              <a:t>Idea is to foster a diverse and inclusive community that discusses and improves its own practices</a:t>
            </a:r>
          </a:p>
          <a:p>
            <a:pPr marL="1828800" lvl="3" indent="-292100" rtl="0">
              <a:lnSpc>
                <a:spcPct val="115000"/>
              </a:lnSpc>
              <a:buClr>
                <a:schemeClr val="dk1"/>
              </a:buClr>
              <a:buSzPct val="100000"/>
              <a:buFont typeface="Arial"/>
              <a:buChar char="●"/>
            </a:pPr>
            <a:r>
              <a:rPr lang="en" sz="1000">
                <a:solidFill>
                  <a:schemeClr val="dk1"/>
                </a:solidFill>
              </a:rPr>
              <a:t>we will provide the technical support and venue: we will connect you and you do whatever you’re best at</a:t>
            </a:r>
          </a:p>
          <a:p>
            <a:pPr marL="914400" lvl="1" indent="-292100" rtl="0">
              <a:lnSpc>
                <a:spcPct val="115000"/>
              </a:lnSpc>
              <a:buClr>
                <a:schemeClr val="dk1"/>
              </a:buClr>
              <a:buSzPct val="100000"/>
              <a:buFont typeface="Arial"/>
              <a:buChar char="○"/>
            </a:pPr>
            <a:r>
              <a:rPr lang="en" sz="1000">
                <a:solidFill>
                  <a:schemeClr val="dk1"/>
                </a:solidFill>
              </a:rPr>
              <a:t>metascience</a:t>
            </a:r>
          </a:p>
          <a:p>
            <a:pPr marL="1371600" lvl="2" indent="-292100" rtl="0">
              <a:lnSpc>
                <a:spcPct val="115000"/>
              </a:lnSpc>
              <a:buClr>
                <a:schemeClr val="dk1"/>
              </a:buClr>
              <a:buSzPct val="100000"/>
              <a:buFont typeface="Arial"/>
              <a:buChar char="■"/>
            </a:pPr>
            <a:r>
              <a:rPr lang="en" sz="1000">
                <a:solidFill>
                  <a:schemeClr val="dk1"/>
                </a:solidFill>
              </a:rPr>
              <a:t>collaborative projects investigating the replicability of current scientific research: What is the problem, exactly? (RP:P, RP:CB, Wysktra-replicability in social science)</a:t>
            </a:r>
          </a:p>
          <a:p>
            <a:endParaRPr lang="en" sz="10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Shape 175"/>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6" name="Shape 17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buNone/>
            </a:pPr>
            <a:r>
              <a:rPr lang="en"/>
              <a:t>Talking points:</a:t>
            </a:r>
          </a:p>
          <a:p>
            <a:endParaRPr lang="en"/>
          </a:p>
          <a:p>
            <a:pPr lvl="0" rtl="0">
              <a:buNone/>
            </a:pPr>
            <a:r>
              <a:rPr lang="en"/>
              <a:t>1)  In our enabling of metascience research we aim to conduct science about scientific practices, evaluate the state of the community, and inform the rest of our behaviors.</a:t>
            </a:r>
          </a:p>
          <a:p>
            <a:endParaRPr lang="en"/>
          </a:p>
          <a:p>
            <a:pPr lvl="0" rtl="0">
              <a:buNone/>
            </a:pPr>
            <a:r>
              <a:rPr lang="en"/>
              <a:t>2) Examples of work in this area include the Reproducibility Project and Archival Project, which you may have heard and some of you may be involved in.  </a:t>
            </a:r>
          </a:p>
          <a:p>
            <a:endParaRPr lang="e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Shape 181"/>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2" name="Shape 18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buNone/>
            </a:pPr>
            <a:r>
              <a:rPr lang="en"/>
              <a:t>Talking points:</a:t>
            </a:r>
          </a:p>
          <a:p>
            <a:endParaRPr lang="en"/>
          </a:p>
          <a:p>
            <a:pPr lvl="0" rtl="0">
              <a:buNone/>
            </a:pPr>
            <a:r>
              <a:rPr lang="en"/>
              <a:t>1)  In our building of community we aim to unite initiatives and researchers so that there is a more engaged, helpful community and greater use and access to open science practices.</a:t>
            </a:r>
          </a:p>
          <a:p>
            <a:endParaRPr lang="en"/>
          </a:p>
          <a:p>
            <a:pPr lvl="0" rtl="0">
              <a:buNone/>
            </a:pPr>
            <a:r>
              <a:rPr lang="en"/>
              <a:t>2)  Better services and new rewards will lead to a more active scientific community.</a:t>
            </a:r>
          </a:p>
          <a:p>
            <a:endParaRPr lang="e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Shape 190"/>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1" name="Shape 19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buNone/>
            </a:pPr>
            <a:r>
              <a:rPr lang="en"/>
              <a:t>Talking points:</a:t>
            </a:r>
          </a:p>
          <a:p>
            <a:endParaRPr lang="en"/>
          </a:p>
          <a:p>
            <a:pPr lvl="0" rtl="0">
              <a:buNone/>
            </a:pPr>
            <a:r>
              <a:rPr lang="en"/>
              <a:t>1)  As an example of a community project, we are working with a diverse group of organizations to promote the adoption of badges for open practices.  Early examples include open data, open materials, and preregistration.</a:t>
            </a:r>
          </a:p>
          <a:p>
            <a:endParaRPr lang="en"/>
          </a:p>
          <a:p>
            <a:pPr lvl="0" rtl="0">
              <a:buNone/>
            </a:pPr>
            <a:r>
              <a:rPr lang="en"/>
              <a:t>2)  These are not domain specific, organizations don’t have to pay to use them,  organizations don’t have to use them all.  They might be used by journals.</a:t>
            </a:r>
          </a:p>
          <a:p>
            <a:endParaRPr lang="en"/>
          </a:p>
          <a:p>
            <a:pPr lvl="0" rtl="0">
              <a:buNone/>
            </a:pPr>
            <a:r>
              <a:rPr lang="en"/>
              <a:t>3)  This a very low cost, low effort, low risk incentive for promoting good open science practices.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Shape 197"/>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8" name="Shape 19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buNone/>
            </a:pPr>
            <a:r>
              <a:rPr lang="en"/>
              <a:t>Talking points:  </a:t>
            </a:r>
          </a:p>
          <a:p>
            <a:endParaRPr lang="en"/>
          </a:p>
          <a:p>
            <a:pPr lvl="0" rtl="0">
              <a:buNone/>
            </a:pPr>
            <a:r>
              <a:rPr lang="en"/>
              <a:t>1)  In our developing of infrastructure we aim to create an environment that simply enables researchers to improve their practices, and invested parties to easily employ open science.  </a:t>
            </a:r>
          </a:p>
          <a:p>
            <a:endParaRPr lang="en"/>
          </a:p>
          <a:p>
            <a:pPr lvl="0" rtl="0">
              <a:buNone/>
            </a:pPr>
            <a:r>
              <a:rPr lang="en"/>
              <a:t>2)  This approach changes the incentive structure and creates an environment where personal barriers are lessened</a:t>
            </a:r>
          </a:p>
          <a:p>
            <a:endParaRPr lang="en"/>
          </a:p>
          <a:p>
            <a:pPr lvl="0" rtl="0">
              <a:buNone/>
            </a:pPr>
            <a:r>
              <a:rPr lang="en"/>
              <a:t>Main takeway:  we are going to where researchers presently are, rather than expecting them to come to us.  This means researchers are able to follow their own workflow.  We nudge open practices through tools being available.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Shape 215"/>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6" name="Shape 2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buNone/>
            </a:pPr>
            <a:r>
              <a:rPr lang="en"/>
              <a:t>Talking points:</a:t>
            </a:r>
          </a:p>
          <a:p>
            <a:endParaRPr lang="en"/>
          </a:p>
          <a:p>
            <a:pPr lvl="0" rtl="0">
              <a:buNone/>
            </a:pPr>
            <a:r>
              <a:rPr lang="en"/>
              <a:t>1)  </a:t>
            </a:r>
            <a:r>
              <a:rPr lang="en">
                <a:solidFill>
                  <a:schemeClr val="dk1"/>
                </a:solidFill>
              </a:rPr>
              <a:t>We connect OSF to the workflow through APIs and add-ons to the already common and popular tools that people in this room use, develop, and manage.  </a:t>
            </a:r>
          </a:p>
          <a:p>
            <a:endParaRPr lang="en">
              <a:solidFill>
                <a:schemeClr val="dk1"/>
              </a:solidFill>
            </a:endParaRPr>
          </a:p>
          <a:p>
            <a:pPr lvl="0" rtl="0">
              <a:buNone/>
            </a:pPr>
            <a:r>
              <a:rPr lang="en"/>
              <a:t>2)  Connecting services both improves user experience and, in providing choice, we increase the service’s use and the value for all parties.</a:t>
            </a:r>
          </a:p>
          <a:p>
            <a:endParaRPr lang="en"/>
          </a:p>
          <a:p>
            <a:pPr lvl="0" rtl="0">
              <a:buNone/>
            </a:pPr>
            <a:r>
              <a:rPr lang="en"/>
              <a:t>3)  We are not trying to interfere with workflow, so there are options and nothing proscriptive or mandated.</a:t>
            </a:r>
          </a:p>
          <a:p>
            <a:endParaRPr lang="e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Shape 221"/>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2" name="Shape 22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buNone/>
            </a:pPr>
            <a:r>
              <a:rPr lang="en"/>
              <a:t>Talking points:</a:t>
            </a:r>
          </a:p>
          <a:p>
            <a:endParaRPr lang="en"/>
          </a:p>
          <a:p>
            <a:pPr lvl="0" rtl="0">
              <a:buNone/>
            </a:pPr>
            <a:r>
              <a:rPr lang="en"/>
              <a:t>1)  Additionally, this approach allows for more ways of measuring value and impact across the scientific process - altmetrics.</a:t>
            </a:r>
          </a:p>
          <a:p>
            <a:endParaRPr lang="e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7"/>
        <p:cNvGrpSpPr/>
        <p:nvPr/>
      </p:nvGrpSpPr>
      <p:grpSpPr>
        <a:xfrm>
          <a:off x="0" y="0"/>
          <a:ext cx="0" cy="0"/>
          <a:chOff x="0" y="0"/>
          <a:chExt cx="0" cy="0"/>
        </a:xfrm>
      </p:grpSpPr>
      <p:sp>
        <p:nvSpPr>
          <p:cNvPr id="8" name="Shape 8"/>
          <p:cNvSpPr txBox="1">
            <a:spLocks noGrp="1"/>
          </p:cNvSpPr>
          <p:nvPr>
            <p:ph type="ctrTitle"/>
          </p:nvPr>
        </p:nvSpPr>
        <p:spPr>
          <a:xfrm>
            <a:off x="685800" y="1583342"/>
            <a:ext cx="7772400" cy="1159856"/>
          </a:xfrm>
          <a:prstGeom prst="rect">
            <a:avLst/>
          </a:prstGeom>
        </p:spPr>
        <p:txBody>
          <a:bodyPr lIns="91425" tIns="91425" rIns="91425" bIns="91425" anchor="b" anchorCtr="0"/>
          <a:lstStyle>
            <a:lvl1pPr indent="304800" algn="ctr">
              <a:buSzPct val="100000"/>
              <a:defRPr sz="4800"/>
            </a:lvl1pPr>
            <a:lvl2pPr indent="304800" algn="ctr">
              <a:buSzPct val="100000"/>
              <a:defRPr sz="4800"/>
            </a:lvl2pPr>
            <a:lvl3pPr indent="304800" algn="ctr">
              <a:buSzPct val="100000"/>
              <a:defRPr sz="4800"/>
            </a:lvl3pPr>
            <a:lvl4pPr indent="304800" algn="ctr">
              <a:buSzPct val="100000"/>
              <a:defRPr sz="4800"/>
            </a:lvl4pPr>
            <a:lvl5pPr indent="304800" algn="ctr">
              <a:buSzPct val="100000"/>
              <a:defRPr sz="4800"/>
            </a:lvl5pPr>
            <a:lvl6pPr indent="304800" algn="ctr">
              <a:buSzPct val="100000"/>
              <a:defRPr sz="4800"/>
            </a:lvl6pPr>
            <a:lvl7pPr indent="304800" algn="ctr">
              <a:buSzPct val="100000"/>
              <a:defRPr sz="4800"/>
            </a:lvl7pPr>
            <a:lvl8pPr indent="304800" algn="ctr">
              <a:buSzPct val="100000"/>
              <a:defRPr sz="4800"/>
            </a:lvl8pPr>
            <a:lvl9pPr indent="304800" algn="ctr">
              <a:buSzPct val="100000"/>
              <a:defRPr sz="4800"/>
            </a:lvl9pPr>
          </a:lstStyle>
          <a:p>
            <a:endParaRPr/>
          </a:p>
        </p:txBody>
      </p:sp>
      <p:sp>
        <p:nvSpPr>
          <p:cNvPr id="9" name="Shape 9"/>
          <p:cNvSpPr txBox="1">
            <a:spLocks noGrp="1"/>
          </p:cNvSpPr>
          <p:nvPr>
            <p:ph type="subTitle" idx="1"/>
          </p:nvPr>
        </p:nvSpPr>
        <p:spPr>
          <a:xfrm>
            <a:off x="685800" y="2840053"/>
            <a:ext cx="7772400" cy="784737"/>
          </a:xfrm>
          <a:prstGeom prst="rect">
            <a:avLst/>
          </a:prstGeom>
        </p:spPr>
        <p:txBody>
          <a:bodyPr lIns="91425" tIns="91425" rIns="91425" bIns="91425" anchor="t" anchorCtr="0"/>
          <a:lstStyle>
            <a:lvl1pPr marL="0" algn="ctr">
              <a:spcBef>
                <a:spcPts val="0"/>
              </a:spcBef>
              <a:buClr>
                <a:schemeClr val="dk2"/>
              </a:buClr>
              <a:buNone/>
              <a:defRPr>
                <a:solidFill>
                  <a:schemeClr val="dk2"/>
                </a:solidFill>
              </a:defRPr>
            </a:lvl1pPr>
            <a:lvl2pPr marL="0" indent="190500" algn="ctr">
              <a:spcBef>
                <a:spcPts val="0"/>
              </a:spcBef>
              <a:buClr>
                <a:schemeClr val="dk2"/>
              </a:buClr>
              <a:buSzPct val="100000"/>
              <a:buNone/>
              <a:defRPr sz="3000">
                <a:solidFill>
                  <a:schemeClr val="dk2"/>
                </a:solidFill>
              </a:defRPr>
            </a:lvl2pPr>
            <a:lvl3pPr marL="0" indent="190500" algn="ctr">
              <a:spcBef>
                <a:spcPts val="0"/>
              </a:spcBef>
              <a:buClr>
                <a:schemeClr val="dk2"/>
              </a:buClr>
              <a:buSzPct val="100000"/>
              <a:buNone/>
              <a:defRPr sz="3000">
                <a:solidFill>
                  <a:schemeClr val="dk2"/>
                </a:solidFill>
              </a:defRPr>
            </a:lvl3pPr>
            <a:lvl4pPr marL="0" indent="190500" algn="ctr">
              <a:spcBef>
                <a:spcPts val="0"/>
              </a:spcBef>
              <a:buClr>
                <a:schemeClr val="dk2"/>
              </a:buClr>
              <a:buSzPct val="100000"/>
              <a:buNone/>
              <a:defRPr sz="3000">
                <a:solidFill>
                  <a:schemeClr val="dk2"/>
                </a:solidFill>
              </a:defRPr>
            </a:lvl4pPr>
            <a:lvl5pPr marL="0" indent="190500" algn="ctr">
              <a:spcBef>
                <a:spcPts val="0"/>
              </a:spcBef>
              <a:buClr>
                <a:schemeClr val="dk2"/>
              </a:buClr>
              <a:buSzPct val="100000"/>
              <a:buNone/>
              <a:defRPr sz="3000">
                <a:solidFill>
                  <a:schemeClr val="dk2"/>
                </a:solidFill>
              </a:defRPr>
            </a:lvl5pPr>
            <a:lvl6pPr marL="0" indent="190500" algn="ctr">
              <a:spcBef>
                <a:spcPts val="0"/>
              </a:spcBef>
              <a:buClr>
                <a:schemeClr val="dk2"/>
              </a:buClr>
              <a:buSzPct val="100000"/>
              <a:buNone/>
              <a:defRPr sz="3000">
                <a:solidFill>
                  <a:schemeClr val="dk2"/>
                </a:solidFill>
              </a:defRPr>
            </a:lvl6pPr>
            <a:lvl7pPr marL="0" indent="190500" algn="ctr">
              <a:spcBef>
                <a:spcPts val="0"/>
              </a:spcBef>
              <a:buClr>
                <a:schemeClr val="dk2"/>
              </a:buClr>
              <a:buSzPct val="100000"/>
              <a:buNone/>
              <a:defRPr sz="3000">
                <a:solidFill>
                  <a:schemeClr val="dk2"/>
                </a:solidFill>
              </a:defRPr>
            </a:lvl7pPr>
            <a:lvl8pPr marL="0" indent="190500" algn="ctr">
              <a:spcBef>
                <a:spcPts val="0"/>
              </a:spcBef>
              <a:buClr>
                <a:schemeClr val="dk2"/>
              </a:buClr>
              <a:buSzPct val="100000"/>
              <a:buNone/>
              <a:defRPr sz="3000">
                <a:solidFill>
                  <a:schemeClr val="dk2"/>
                </a:solidFill>
              </a:defRPr>
            </a:lvl8pPr>
            <a:lvl9pPr marL="0" indent="190500" algn="ctr">
              <a:spcBef>
                <a:spcPts val="0"/>
              </a:spcBef>
              <a:buClr>
                <a:schemeClr val="dk2"/>
              </a:buClr>
              <a:buSzPct val="100000"/>
              <a:buNone/>
              <a:defRPr sz="3000">
                <a:solidFill>
                  <a:schemeClr val="dk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0"/>
        <p:cNvGrpSpPr/>
        <p:nvPr/>
      </p:nvGrpSpPr>
      <p:grpSpPr>
        <a:xfrm>
          <a:off x="0" y="0"/>
          <a:ext cx="0" cy="0"/>
          <a:chOff x="0" y="0"/>
          <a:chExt cx="0" cy="0"/>
        </a:xfrm>
      </p:grpSpPr>
      <p:sp>
        <p:nvSpPr>
          <p:cNvPr id="11" name="Shape 11"/>
          <p:cNvSpPr txBox="1">
            <a:spLocks noGrp="1"/>
          </p:cNvSpPr>
          <p:nvPr>
            <p:ph type="title"/>
          </p:nvPr>
        </p:nvSpPr>
        <p:spPr>
          <a:xfrm>
            <a:off x="457200" y="205978"/>
            <a:ext cx="8229600" cy="857250"/>
          </a:xfrm>
          <a:prstGeom prst="rect">
            <a:avLst/>
          </a:prstGeom>
        </p:spPr>
        <p:txBody>
          <a:bodyPr lIns="91425" tIns="91425" rIns="91425" bIns="91425" anchor="b" anchorCtr="0"/>
          <a:lstStyle>
            <a:lvl1pPr>
              <a:defRPr/>
            </a:lvl1pPr>
            <a:lvl2pPr>
              <a:defRPr/>
            </a:lvl2pPr>
            <a:lvl3pPr>
              <a:defRPr/>
            </a:lvl3pPr>
            <a:lvl4pPr>
              <a:defRPr/>
            </a:lvl4pPr>
            <a:lvl5pPr>
              <a:defRPr/>
            </a:lvl5pPr>
            <a:lvl6pPr>
              <a:defRPr/>
            </a:lvl6pPr>
            <a:lvl7pPr>
              <a:defRPr/>
            </a:lvl7pPr>
            <a:lvl8pPr>
              <a:defRPr/>
            </a:lvl8pPr>
            <a:lvl9pPr>
              <a:defRPr/>
            </a:lvl9pPr>
          </a:lstStyle>
          <a:p>
            <a:endParaRPr/>
          </a:p>
        </p:txBody>
      </p:sp>
      <p:sp>
        <p:nvSpPr>
          <p:cNvPr id="12" name="Shape 12"/>
          <p:cNvSpPr txBox="1">
            <a:spLocks noGrp="1"/>
          </p:cNvSpPr>
          <p:nvPr>
            <p:ph type="body" idx="1"/>
          </p:nvPr>
        </p:nvSpPr>
        <p:spPr>
          <a:xfrm>
            <a:off x="457200" y="1200150"/>
            <a:ext cx="8229600" cy="3725680"/>
          </a:xfrm>
          <a:prstGeom prst="rect">
            <a:avLst/>
          </a:prstGeom>
        </p:spPr>
        <p:txBody>
          <a:bodyPr lIns="91425" tIns="91425" rIns="91425" bIns="91425" anchor="t" anchorCtr="0"/>
          <a:lstStyle>
            <a:lvl1pPr>
              <a:defRPr/>
            </a:lvl1pPr>
            <a:lvl2pPr indent="457200">
              <a:defRPr/>
            </a:lvl2pPr>
            <a:lvl3pPr indent="914400">
              <a:defRPr/>
            </a:lvl3pPr>
            <a:lvl4pPr indent="1371600">
              <a:defRPr/>
            </a:lvl4pPr>
            <a:lvl5pPr>
              <a:defRPr/>
            </a:lvl5pPr>
            <a:lvl6pPr>
              <a:defRPr/>
            </a:lvl6pPr>
            <a:lvl7pPr>
              <a:defRPr/>
            </a:lvl7pPr>
            <a:lvl8pPr>
              <a:defRPr/>
            </a:lvl8pPr>
            <a:lvl9pP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457200" y="205978"/>
            <a:ext cx="8229600" cy="857250"/>
          </a:xfrm>
          <a:prstGeom prst="rect">
            <a:avLst/>
          </a:prstGeom>
        </p:spPr>
        <p:txBody>
          <a:bodyPr lIns="91425" tIns="91425" rIns="91425" bIns="91425" anchor="b" anchorCtr="0"/>
          <a:lstStyle>
            <a:lvl1pPr>
              <a:defRPr/>
            </a:lvl1pPr>
            <a:lvl2pPr>
              <a:defRPr/>
            </a:lvl2pPr>
            <a:lvl3pPr>
              <a:defRPr/>
            </a:lvl3pPr>
            <a:lvl4pPr>
              <a:defRPr/>
            </a:lvl4pPr>
            <a:lvl5pPr>
              <a:defRPr/>
            </a:lvl5pPr>
            <a:lvl6pPr>
              <a:defRPr/>
            </a:lvl6pPr>
            <a:lvl7pPr>
              <a:defRPr/>
            </a:lvl7pPr>
            <a:lvl8pPr>
              <a:defRPr/>
            </a:lvl8pPr>
            <a:lvl9pPr>
              <a:defRPr/>
            </a:lvl9pPr>
          </a:lstStyle>
          <a:p>
            <a:endParaRPr/>
          </a:p>
        </p:txBody>
      </p:sp>
      <p:sp>
        <p:nvSpPr>
          <p:cNvPr id="15" name="Shape 15"/>
          <p:cNvSpPr txBox="1">
            <a:spLocks noGrp="1"/>
          </p:cNvSpPr>
          <p:nvPr>
            <p:ph type="body" idx="1"/>
          </p:nvPr>
        </p:nvSpPr>
        <p:spPr>
          <a:xfrm>
            <a:off x="457200" y="1200150"/>
            <a:ext cx="3994525" cy="3725680"/>
          </a:xfrm>
          <a:prstGeom prst="rect">
            <a:avLst/>
          </a:prstGeom>
        </p:spPr>
        <p:txBody>
          <a:bodyPr lIns="91425" tIns="91425" rIns="91425" bIns="91425" anchor="t" anchorCtr="0"/>
          <a:lstStyle>
            <a:lvl1pPr>
              <a:defRPr/>
            </a:lvl1pPr>
            <a:lvl2pPr>
              <a:defRPr/>
            </a:lvl2pPr>
            <a:lvl3pPr>
              <a:defRPr/>
            </a:lvl3pPr>
            <a:lvl4pPr>
              <a:defRPr/>
            </a:lvl4pPr>
            <a:lvl5pPr>
              <a:defRPr/>
            </a:lvl5pPr>
            <a:lvl6pPr>
              <a:defRPr/>
            </a:lvl6pPr>
            <a:lvl7pPr>
              <a:defRPr/>
            </a:lvl7pPr>
            <a:lvl8pPr>
              <a:defRPr/>
            </a:lvl8pPr>
            <a:lvl9pPr>
              <a:defRPr/>
            </a:lvl9pPr>
          </a:lstStyle>
          <a:p>
            <a:endParaRPr/>
          </a:p>
        </p:txBody>
      </p:sp>
      <p:sp>
        <p:nvSpPr>
          <p:cNvPr id="16" name="Shape 16"/>
          <p:cNvSpPr txBox="1">
            <a:spLocks noGrp="1"/>
          </p:cNvSpPr>
          <p:nvPr>
            <p:ph type="body" idx="2"/>
          </p:nvPr>
        </p:nvSpPr>
        <p:spPr>
          <a:xfrm>
            <a:off x="4692273" y="1200150"/>
            <a:ext cx="3994525" cy="3725680"/>
          </a:xfrm>
          <a:prstGeom prst="rect">
            <a:avLst/>
          </a:prstGeom>
        </p:spPr>
        <p:txBody>
          <a:bodyPr lIns="91425" tIns="91425" rIns="91425" bIns="91425" anchor="t" anchorCtr="0"/>
          <a:lstStyle>
            <a:lvl1pPr>
              <a:defRPr/>
            </a:lvl1pPr>
            <a:lvl2pPr>
              <a:defRPr/>
            </a:lvl2pPr>
            <a:lvl3pPr>
              <a:defRPr/>
            </a:lvl3pPr>
            <a:lvl4pPr>
              <a:defRPr/>
            </a:lvl4pPr>
            <a:lvl5pPr>
              <a:defRPr/>
            </a:lvl5pPr>
            <a:lvl6pPr>
              <a:defRPr/>
            </a:lvl6pPr>
            <a:lvl7pPr>
              <a:defRPr/>
            </a:lvl7pPr>
            <a:lvl8pPr>
              <a:defRPr/>
            </a:lvl8pPr>
            <a:lvl9pP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457200" y="205978"/>
            <a:ext cx="8229600" cy="857250"/>
          </a:xfrm>
          <a:prstGeom prst="rect">
            <a:avLst/>
          </a:prstGeom>
        </p:spPr>
        <p:txBody>
          <a:bodyPr lIns="91425" tIns="91425" rIns="91425" bIns="91425" anchor="b" anchorCtr="0"/>
          <a:lstStyle>
            <a:lvl1pPr>
              <a:defRPr/>
            </a:lvl1pPr>
            <a:lvl2pPr>
              <a:defRPr/>
            </a:lvl2pPr>
            <a:lvl3pPr>
              <a:defRPr/>
            </a:lvl3pPr>
            <a:lvl4pPr>
              <a:defRPr/>
            </a:lvl4pPr>
            <a:lvl5pPr>
              <a:defRPr/>
            </a:lvl5pPr>
            <a:lvl6pPr>
              <a:defRPr/>
            </a:lvl6pPr>
            <a:lvl7pPr>
              <a:defRPr/>
            </a:lvl7pPr>
            <a:lvl8pPr>
              <a:defRPr/>
            </a:lvl8pPr>
            <a:lvl9pP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aption">
    <p:spTree>
      <p:nvGrpSpPr>
        <p:cNvPr id="1" name="Shape 19"/>
        <p:cNvGrpSpPr/>
        <p:nvPr/>
      </p:nvGrpSpPr>
      <p:grpSpPr>
        <a:xfrm>
          <a:off x="0" y="0"/>
          <a:ext cx="0" cy="0"/>
          <a:chOff x="0" y="0"/>
          <a:chExt cx="0" cy="0"/>
        </a:xfrm>
      </p:grpSpPr>
      <p:sp>
        <p:nvSpPr>
          <p:cNvPr id="20" name="Shape 20"/>
          <p:cNvSpPr txBox="1">
            <a:spLocks noGrp="1"/>
          </p:cNvSpPr>
          <p:nvPr>
            <p:ph type="body" idx="1"/>
          </p:nvPr>
        </p:nvSpPr>
        <p:spPr>
          <a:xfrm>
            <a:off x="457200" y="4406309"/>
            <a:ext cx="8229600" cy="519520"/>
          </a:xfrm>
          <a:prstGeom prst="rect">
            <a:avLst/>
          </a:prstGeom>
        </p:spPr>
        <p:txBody>
          <a:bodyPr lIns="91425" tIns="91425" rIns="91425" bIns="91425" anchor="t" anchorCtr="0"/>
          <a:lstStyle>
            <a:lvl1pPr marL="285750" indent="-171450" algn="ctr">
              <a:spcBef>
                <a:spcPts val="360"/>
              </a:spcBef>
              <a:buSzPct val="100000"/>
              <a:buNone/>
              <a:defRPr sz="18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
        <p:cNvGrpSpPr/>
        <p:nvPr/>
      </p:nvGrpSpPr>
      <p:grpSpPr>
        <a:xfrm>
          <a:off x="0" y="0"/>
          <a:ext cx="0" cy="0"/>
          <a:chOff x="0" y="0"/>
          <a:chExt cx="0" cy="0"/>
        </a:xfrm>
      </p:grpSpPr>
      <p:sp>
        <p:nvSpPr>
          <p:cNvPr id="5" name="Shape 5"/>
          <p:cNvSpPr txBox="1">
            <a:spLocks noGrp="1"/>
          </p:cNvSpPr>
          <p:nvPr>
            <p:ph type="title"/>
          </p:nvPr>
        </p:nvSpPr>
        <p:spPr>
          <a:xfrm>
            <a:off x="457200" y="205978"/>
            <a:ext cx="8229600" cy="857250"/>
          </a:xfrm>
          <a:prstGeom prst="rect">
            <a:avLst/>
          </a:prstGeom>
        </p:spPr>
        <p:txBody>
          <a:bodyPr lIns="91425" tIns="91425" rIns="91425" bIns="91425" anchor="b" anchorCtr="0"/>
          <a:lstStyle>
            <a:lvl1pPr marL="0">
              <a:buClr>
                <a:schemeClr val="dk1"/>
              </a:buClr>
              <a:buSzPct val="100000"/>
              <a:buNone/>
              <a:defRPr sz="3600" b="1">
                <a:solidFill>
                  <a:schemeClr val="dk1"/>
                </a:solidFill>
              </a:defRPr>
            </a:lvl1pPr>
            <a:lvl2pPr marL="0" indent="228600">
              <a:buClr>
                <a:schemeClr val="dk1"/>
              </a:buClr>
              <a:buSzPct val="100000"/>
              <a:buNone/>
              <a:defRPr sz="3600" b="1">
                <a:solidFill>
                  <a:schemeClr val="dk1"/>
                </a:solidFill>
              </a:defRPr>
            </a:lvl2pPr>
            <a:lvl3pPr marL="0" indent="228600">
              <a:buClr>
                <a:schemeClr val="dk1"/>
              </a:buClr>
              <a:buSzPct val="100000"/>
              <a:buNone/>
              <a:defRPr sz="3600" b="1">
                <a:solidFill>
                  <a:schemeClr val="dk1"/>
                </a:solidFill>
              </a:defRPr>
            </a:lvl3pPr>
            <a:lvl4pPr marL="0" indent="228600">
              <a:buClr>
                <a:schemeClr val="dk1"/>
              </a:buClr>
              <a:buSzPct val="100000"/>
              <a:buNone/>
              <a:defRPr sz="3600" b="1">
                <a:solidFill>
                  <a:schemeClr val="dk1"/>
                </a:solidFill>
              </a:defRPr>
            </a:lvl4pPr>
            <a:lvl5pPr marL="0" indent="228600">
              <a:buClr>
                <a:schemeClr val="dk1"/>
              </a:buClr>
              <a:buSzPct val="100000"/>
              <a:buNone/>
              <a:defRPr sz="3600" b="1">
                <a:solidFill>
                  <a:schemeClr val="dk1"/>
                </a:solidFill>
              </a:defRPr>
            </a:lvl5pPr>
            <a:lvl6pPr marL="0" indent="228600">
              <a:buClr>
                <a:schemeClr val="dk1"/>
              </a:buClr>
              <a:buSzPct val="100000"/>
              <a:buNone/>
              <a:defRPr sz="3600" b="1">
                <a:solidFill>
                  <a:schemeClr val="dk1"/>
                </a:solidFill>
              </a:defRPr>
            </a:lvl6pPr>
            <a:lvl7pPr marL="0" indent="228600">
              <a:buClr>
                <a:schemeClr val="dk1"/>
              </a:buClr>
              <a:buSzPct val="100000"/>
              <a:buNone/>
              <a:defRPr sz="3600" b="1">
                <a:solidFill>
                  <a:schemeClr val="dk1"/>
                </a:solidFill>
              </a:defRPr>
            </a:lvl7pPr>
            <a:lvl8pPr marL="0" indent="228600">
              <a:buClr>
                <a:schemeClr val="dk1"/>
              </a:buClr>
              <a:buSzPct val="100000"/>
              <a:buNone/>
              <a:defRPr sz="3600" b="1">
                <a:solidFill>
                  <a:schemeClr val="dk1"/>
                </a:solidFill>
              </a:defRPr>
            </a:lvl8pPr>
            <a:lvl9pPr marL="0" indent="228600">
              <a:buClr>
                <a:schemeClr val="dk1"/>
              </a:buClr>
              <a:buSzPct val="100000"/>
              <a:buNone/>
              <a:defRPr sz="3600" b="1">
                <a:solidFill>
                  <a:schemeClr val="dk1"/>
                </a:solidFill>
              </a:defRPr>
            </a:lvl9pPr>
          </a:lstStyle>
          <a:p>
            <a:endParaRPr/>
          </a:p>
        </p:txBody>
      </p:sp>
      <p:sp>
        <p:nvSpPr>
          <p:cNvPr id="6" name="Shape 6"/>
          <p:cNvSpPr txBox="1">
            <a:spLocks noGrp="1"/>
          </p:cNvSpPr>
          <p:nvPr>
            <p:ph type="body" idx="1"/>
          </p:nvPr>
        </p:nvSpPr>
        <p:spPr>
          <a:xfrm>
            <a:off x="457200" y="1200150"/>
            <a:ext cx="8229600" cy="3725680"/>
          </a:xfrm>
          <a:prstGeom prst="rect">
            <a:avLst/>
          </a:prstGeom>
        </p:spPr>
        <p:txBody>
          <a:bodyPr lIns="91425" tIns="91425" rIns="91425" bIns="91425" anchor="t" anchorCtr="0"/>
          <a:lstStyle>
            <a:lvl1pPr marL="342900" indent="-152400">
              <a:spcBef>
                <a:spcPts val="600"/>
              </a:spcBef>
              <a:buClr>
                <a:schemeClr val="dk1"/>
              </a:buClr>
              <a:buSzPct val="100000"/>
              <a:defRPr sz="3000">
                <a:solidFill>
                  <a:schemeClr val="dk1"/>
                </a:solidFill>
              </a:defRPr>
            </a:lvl1pPr>
            <a:lvl2pPr marL="742950" indent="-133350">
              <a:spcBef>
                <a:spcPts val="480"/>
              </a:spcBef>
              <a:buClr>
                <a:schemeClr val="dk1"/>
              </a:buClr>
              <a:buSzPct val="100000"/>
              <a:defRPr sz="2400">
                <a:solidFill>
                  <a:schemeClr val="dk1"/>
                </a:solidFill>
              </a:defRPr>
            </a:lvl2pPr>
            <a:lvl3pPr marL="1143000" indent="-76200">
              <a:spcBef>
                <a:spcPts val="480"/>
              </a:spcBef>
              <a:buClr>
                <a:schemeClr val="dk1"/>
              </a:buClr>
              <a:buSzPct val="100000"/>
              <a:defRPr sz="2400">
                <a:solidFill>
                  <a:schemeClr val="dk1"/>
                </a:solidFill>
              </a:defRPr>
            </a:lvl3pPr>
            <a:lvl4pPr marL="1600200" indent="-114300">
              <a:spcBef>
                <a:spcPts val="360"/>
              </a:spcBef>
              <a:buClr>
                <a:schemeClr val="dk1"/>
              </a:buClr>
              <a:buSzPct val="100000"/>
              <a:defRPr sz="1800">
                <a:solidFill>
                  <a:schemeClr val="dk1"/>
                </a:solidFill>
              </a:defRPr>
            </a:lvl4pPr>
            <a:lvl5pPr marL="2057400" indent="-114300">
              <a:spcBef>
                <a:spcPts val="360"/>
              </a:spcBef>
              <a:buClr>
                <a:schemeClr val="dk1"/>
              </a:buClr>
              <a:buSzPct val="100000"/>
              <a:defRPr sz="1800">
                <a:solidFill>
                  <a:schemeClr val="dk1"/>
                </a:solidFill>
              </a:defRPr>
            </a:lvl5pPr>
            <a:lvl6pPr marL="2514600" indent="-114300">
              <a:spcBef>
                <a:spcPts val="360"/>
              </a:spcBef>
              <a:buClr>
                <a:schemeClr val="dk1"/>
              </a:buClr>
              <a:buSzPct val="100000"/>
              <a:defRPr sz="1800">
                <a:solidFill>
                  <a:schemeClr val="dk1"/>
                </a:solidFill>
              </a:defRPr>
            </a:lvl6pPr>
            <a:lvl7pPr marL="2971800" indent="-114300">
              <a:spcBef>
                <a:spcPts val="360"/>
              </a:spcBef>
              <a:buClr>
                <a:schemeClr val="dk1"/>
              </a:buClr>
              <a:buSzPct val="100000"/>
              <a:defRPr sz="1800">
                <a:solidFill>
                  <a:schemeClr val="dk1"/>
                </a:solidFill>
              </a:defRPr>
            </a:lvl7pPr>
            <a:lvl8pPr marL="3429000" indent="-114300">
              <a:spcBef>
                <a:spcPts val="360"/>
              </a:spcBef>
              <a:buClr>
                <a:schemeClr val="dk1"/>
              </a:buClr>
              <a:buSzPct val="100000"/>
              <a:defRPr sz="1800">
                <a:solidFill>
                  <a:schemeClr val="dk1"/>
                </a:solidFill>
              </a:defRPr>
            </a:lvl8pPr>
            <a:lvl9pPr marL="3886200" indent="-114300">
              <a:spcBef>
                <a:spcPts val="360"/>
              </a:spcBef>
              <a:buClr>
                <a:schemeClr val="dk1"/>
              </a:buClr>
              <a:buSzPct val="100000"/>
              <a:defRPr sz="1800">
                <a:solidFill>
                  <a:schemeClr val="dk1"/>
                </a:solidFil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4" Type="http://schemas.openxmlformats.org/officeDocument/2006/relationships/image" Target="../media/image3.jpg"/><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4" Type="http://schemas.openxmlformats.org/officeDocument/2006/relationships/image" Target="../media/image5.jpg"/><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4" Type="http://schemas.openxmlformats.org/officeDocument/2006/relationships/image" Target="../media/image7.jpg"/><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jp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Shape 98"/>
          <p:cNvSpPr txBox="1">
            <a:spLocks noGrp="1"/>
          </p:cNvSpPr>
          <p:nvPr>
            <p:ph type="ctrTitle"/>
          </p:nvPr>
        </p:nvSpPr>
        <p:spPr>
          <a:xfrm>
            <a:off x="685800" y="1583342"/>
            <a:ext cx="7772400" cy="1159856"/>
          </a:xfrm>
          <a:prstGeom prst="rect">
            <a:avLst/>
          </a:prstGeom>
        </p:spPr>
        <p:txBody>
          <a:bodyPr lIns="91425" tIns="91425" rIns="91425" bIns="91425" anchor="b" anchorCtr="0">
            <a:noAutofit/>
          </a:bodyPr>
          <a:lstStyle/>
          <a:p>
            <a:pPr>
              <a:buNone/>
            </a:pPr>
            <a:r>
              <a:rPr lang="en"/>
              <a:t>Open Science Framework</a:t>
            </a:r>
          </a:p>
        </p:txBody>
      </p:sp>
      <p:sp>
        <p:nvSpPr>
          <p:cNvPr id="99" name="Shape 99"/>
          <p:cNvSpPr txBox="1">
            <a:spLocks noGrp="1"/>
          </p:cNvSpPr>
          <p:nvPr>
            <p:ph type="subTitle" idx="1"/>
          </p:nvPr>
        </p:nvSpPr>
        <p:spPr>
          <a:xfrm>
            <a:off x="685800" y="2840053"/>
            <a:ext cx="7772400" cy="784737"/>
          </a:xfrm>
          <a:prstGeom prst="rect">
            <a:avLst/>
          </a:prstGeom>
        </p:spPr>
        <p:txBody>
          <a:bodyPr lIns="91425" tIns="91425" rIns="91425" bIns="91425" anchor="t" anchorCtr="0">
            <a:noAutofit/>
          </a:bodyPr>
          <a:lstStyle/>
          <a:p>
            <a:pPr lvl="0" rtl="0">
              <a:buNone/>
            </a:pPr>
            <a:r>
              <a:rPr lang="en"/>
              <a:t>Enabling open practices and </a:t>
            </a:r>
          </a:p>
          <a:p>
            <a:pPr lvl="0" rtl="0">
              <a:buNone/>
            </a:pPr>
            <a:r>
              <a:rPr lang="en"/>
              <a:t>increasing organization</a:t>
            </a:r>
          </a:p>
        </p:txBody>
      </p:sp>
    </p:spTree>
  </p:cSld>
  <p:clrMapOvr>
    <a:masterClrMapping/>
  </p:clrMapOvr>
  <p:transition xmlns:p14="http://schemas.microsoft.com/office/powerpoint/2010/mai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Shape 104"/>
          <p:cNvSpPr txBox="1">
            <a:spLocks noGrp="1"/>
          </p:cNvSpPr>
          <p:nvPr>
            <p:ph type="body" idx="1"/>
          </p:nvPr>
        </p:nvSpPr>
        <p:spPr>
          <a:xfrm>
            <a:off x="457200" y="1159800"/>
            <a:ext cx="8229600" cy="3725699"/>
          </a:xfrm>
          <a:prstGeom prst="rect">
            <a:avLst/>
          </a:prstGeom>
        </p:spPr>
        <p:txBody>
          <a:bodyPr lIns="91425" tIns="91425" rIns="91425" bIns="91425" anchor="t" anchorCtr="0">
            <a:noAutofit/>
          </a:bodyPr>
          <a:lstStyle/>
          <a:p>
            <a:pPr lvl="0" rtl="0">
              <a:buNone/>
            </a:pPr>
            <a:r>
              <a:rPr lang="en" sz="2100"/>
              <a:t>3:00-3:30	Introductions</a:t>
            </a:r>
          </a:p>
          <a:p>
            <a:pPr marL="914400" lvl="0" indent="457200" rtl="0">
              <a:buNone/>
            </a:pPr>
            <a:r>
              <a:rPr lang="en" sz="2100"/>
              <a:t>What’s the problem?</a:t>
            </a:r>
          </a:p>
          <a:p>
            <a:pPr marL="914400" lvl="0" indent="457200" rtl="0">
              <a:buNone/>
            </a:pPr>
            <a:r>
              <a:rPr lang="en" sz="2100"/>
              <a:t>How do we address it?</a:t>
            </a:r>
          </a:p>
          <a:p>
            <a:pPr lvl="0" rtl="0">
              <a:buNone/>
            </a:pPr>
            <a:r>
              <a:rPr lang="en" sz="2100"/>
              <a:t>3:30-4:15	OSF examples and use cases</a:t>
            </a:r>
          </a:p>
          <a:p>
            <a:pPr lvl="0" rtl="0">
              <a:buNone/>
            </a:pPr>
            <a:r>
              <a:rPr lang="en" sz="2100">
                <a:solidFill>
                  <a:srgbClr val="3C78D8"/>
                </a:solidFill>
              </a:rPr>
              <a:t>4:15-4:30	Break</a:t>
            </a:r>
          </a:p>
          <a:p>
            <a:pPr lvl="0" rtl="0">
              <a:buNone/>
            </a:pPr>
            <a:r>
              <a:rPr lang="en" sz="2100"/>
              <a:t>4:30-5:00	Hands on use of the OSF</a:t>
            </a:r>
          </a:p>
          <a:p>
            <a:pPr lvl="0" rtl="0">
              <a:buNone/>
            </a:pPr>
            <a:r>
              <a:rPr lang="en" sz="2100"/>
              <a:t>5:00-5:30	Breakout session </a:t>
            </a:r>
          </a:p>
          <a:p>
            <a:pPr lvl="0" rtl="0">
              <a:buNone/>
            </a:pPr>
            <a:r>
              <a:rPr lang="en" sz="2100"/>
              <a:t>5:30-5:45	Upcoming Features</a:t>
            </a:r>
          </a:p>
          <a:p>
            <a:pPr>
              <a:buNone/>
            </a:pPr>
            <a:r>
              <a:rPr lang="en" sz="2100"/>
              <a:t>5:45-6:00	Q&amp;A</a:t>
            </a:r>
          </a:p>
        </p:txBody>
      </p:sp>
      <p:sp>
        <p:nvSpPr>
          <p:cNvPr id="105" name="Shape 105"/>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buNone/>
            </a:pPr>
            <a:r>
              <a:rPr lang="en"/>
              <a:t>Schedule</a:t>
            </a:r>
          </a:p>
        </p:txBody>
      </p:sp>
    </p:spTree>
  </p:cSld>
  <p:clrMapOvr>
    <a:masterClrMapping/>
  </p:clrMapOvr>
  <p:transition xmlns:p14="http://schemas.microsoft.com/office/powerpoint/2010/mai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Shape 110"/>
          <p:cNvSpPr/>
          <p:nvPr/>
        </p:nvSpPr>
        <p:spPr>
          <a:xfrm>
            <a:off x="3143250" y="1714500"/>
            <a:ext cx="2857500" cy="1714500"/>
          </a:xfrm>
          <a:prstGeom prst="rect">
            <a:avLst/>
          </a:prstGeom>
          <a:blipFill>
            <a:blip r:embed="rId3"/>
            <a:stretch>
              <a:fillRect/>
            </a:stretch>
          </a:blipFill>
          <a:ln>
            <a:noFill/>
          </a:ln>
        </p:spPr>
      </p:sp>
    </p:spTree>
  </p:cSld>
  <p:clrMapOvr>
    <a:masterClrMapping/>
  </p:clrMapOvr>
  <p:transition xmlns:p14="http://schemas.microsoft.com/office/powerpoint/2010/mai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Shape 115"/>
          <p:cNvSpPr/>
          <p:nvPr/>
        </p:nvSpPr>
        <p:spPr>
          <a:xfrm>
            <a:off x="4612675" y="2009951"/>
            <a:ext cx="4279249" cy="2849974"/>
          </a:xfrm>
          <a:prstGeom prst="rect">
            <a:avLst/>
          </a:prstGeom>
          <a:blipFill>
            <a:blip r:embed="rId3"/>
            <a:stretch>
              <a:fillRect/>
            </a:stretch>
          </a:blipFill>
          <a:ln>
            <a:noFill/>
          </a:ln>
        </p:spPr>
      </p:sp>
      <p:sp>
        <p:nvSpPr>
          <p:cNvPr id="116" name="Shape 116"/>
          <p:cNvSpPr/>
          <p:nvPr/>
        </p:nvSpPr>
        <p:spPr>
          <a:xfrm>
            <a:off x="211650" y="249275"/>
            <a:ext cx="4321900" cy="2849974"/>
          </a:xfrm>
          <a:prstGeom prst="rect">
            <a:avLst/>
          </a:prstGeom>
          <a:blipFill>
            <a:blip r:embed="rId4"/>
            <a:stretch>
              <a:fillRect/>
            </a:stretch>
          </a:blipFill>
          <a:ln>
            <a:noFill/>
          </a:ln>
        </p:spPr>
      </p:sp>
    </p:spTree>
  </p:cSld>
  <p:clrMapOvr>
    <a:masterClrMapping/>
  </p:clrMapOvr>
  <p:transition xmlns:p14="http://schemas.microsoft.com/office/powerpoint/2010/main" spd="slow">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Shape 121"/>
          <p:cNvSpPr/>
          <p:nvPr/>
        </p:nvSpPr>
        <p:spPr>
          <a:xfrm>
            <a:off x="153125" y="145075"/>
            <a:ext cx="3922100" cy="2612125"/>
          </a:xfrm>
          <a:prstGeom prst="rect">
            <a:avLst/>
          </a:prstGeom>
          <a:blipFill>
            <a:blip r:embed="rId3"/>
            <a:stretch>
              <a:fillRect/>
            </a:stretch>
          </a:blipFill>
          <a:ln>
            <a:noFill/>
          </a:ln>
        </p:spPr>
      </p:sp>
      <p:sp>
        <p:nvSpPr>
          <p:cNvPr id="122" name="Shape 122"/>
          <p:cNvSpPr/>
          <p:nvPr/>
        </p:nvSpPr>
        <p:spPr>
          <a:xfrm>
            <a:off x="4381875" y="1638200"/>
            <a:ext cx="4415199" cy="3214950"/>
          </a:xfrm>
          <a:prstGeom prst="rect">
            <a:avLst/>
          </a:prstGeom>
          <a:blipFill>
            <a:blip r:embed="rId4"/>
            <a:stretch>
              <a:fillRect/>
            </a:stretch>
          </a:blipFill>
          <a:ln>
            <a:noFill/>
          </a:ln>
        </p:spPr>
      </p:sp>
    </p:spTree>
  </p:cSld>
  <p:clrMapOvr>
    <a:masterClrMapping/>
  </p:clrMapOvr>
  <p:transition xmlns:p14="http://schemas.microsoft.com/office/powerpoint/2010/main" spd="slow">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Shape 127"/>
          <p:cNvSpPr/>
          <p:nvPr/>
        </p:nvSpPr>
        <p:spPr>
          <a:xfrm>
            <a:off x="4028350" y="1753037"/>
            <a:ext cx="4762500" cy="3171825"/>
          </a:xfrm>
          <a:prstGeom prst="rect">
            <a:avLst/>
          </a:prstGeom>
          <a:blipFill>
            <a:blip r:embed="rId3"/>
            <a:stretch>
              <a:fillRect/>
            </a:stretch>
          </a:blipFill>
          <a:ln>
            <a:noFill/>
          </a:ln>
        </p:spPr>
      </p:sp>
      <p:sp>
        <p:nvSpPr>
          <p:cNvPr id="128" name="Shape 128"/>
          <p:cNvSpPr/>
          <p:nvPr/>
        </p:nvSpPr>
        <p:spPr>
          <a:xfrm>
            <a:off x="338875" y="354796"/>
            <a:ext cx="3469300" cy="2310549"/>
          </a:xfrm>
          <a:prstGeom prst="rect">
            <a:avLst/>
          </a:prstGeom>
          <a:blipFill>
            <a:blip r:embed="rId4"/>
            <a:stretch>
              <a:fillRect/>
            </a:stretch>
          </a:blipFill>
          <a:ln>
            <a:noFill/>
          </a:ln>
        </p:spPr>
      </p:sp>
    </p:spTree>
  </p:cSld>
  <p:clrMapOvr>
    <a:masterClrMapping/>
  </p:clrMapOvr>
  <p:transition xmlns:p14="http://schemas.microsoft.com/office/powerpoint/2010/mai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Shape 133"/>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buNone/>
            </a:pPr>
            <a:r>
              <a:rPr lang="en"/>
              <a:t>Scientific Ideals</a:t>
            </a:r>
          </a:p>
        </p:txBody>
      </p:sp>
      <p:sp>
        <p:nvSpPr>
          <p:cNvPr id="134" name="Shape 134"/>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lvl="0" rtl="0">
              <a:buNone/>
            </a:pPr>
            <a:r>
              <a:rPr lang="en"/>
              <a:t>- Innovative ideas</a:t>
            </a:r>
          </a:p>
          <a:p>
            <a:pPr lvl="0" rtl="0">
              <a:buNone/>
            </a:pPr>
            <a:r>
              <a:rPr lang="en"/>
              <a:t>- Reproducible results</a:t>
            </a:r>
          </a:p>
          <a:p>
            <a:pPr lvl="0" rtl="0">
              <a:buNone/>
            </a:pPr>
            <a:r>
              <a:rPr lang="en"/>
              <a:t>- Accumulation of knowledge</a:t>
            </a:r>
          </a:p>
          <a:p>
            <a:endParaRPr lang="en"/>
          </a:p>
          <a:p>
            <a:endParaRPr lang="en"/>
          </a:p>
          <a:p>
            <a:endParaRPr lang="en"/>
          </a:p>
          <a:p>
            <a:endParaRPr lang="en"/>
          </a:p>
        </p:txBody>
      </p:sp>
    </p:spTree>
  </p:cSld>
  <p:clrMapOvr>
    <a:masterClrMapping/>
  </p:clrMapOvr>
  <p:transition xmlns:p14="http://schemas.microsoft.com/office/powerpoint/2010/main" spd="slow">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Shape 139"/>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buNone/>
            </a:pPr>
            <a:r>
              <a:rPr lang="en"/>
              <a:t>What’s the problem?</a:t>
            </a:r>
          </a:p>
        </p:txBody>
      </p:sp>
      <p:sp>
        <p:nvSpPr>
          <p:cNvPr id="140" name="Shape 140"/>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lvl="0" rtl="0">
              <a:spcBef>
                <a:spcPts val="0"/>
              </a:spcBef>
              <a:buNone/>
            </a:pPr>
            <a:r>
              <a:rPr lang="en" sz="2400">
                <a:latin typeface="Calibri"/>
                <a:ea typeface="Calibri"/>
                <a:cs typeface="Calibri"/>
                <a:sym typeface="Calibri"/>
              </a:rPr>
              <a:t>- Low power </a:t>
            </a:r>
          </a:p>
          <a:p>
            <a:pPr lvl="0" rtl="0">
              <a:spcBef>
                <a:spcPts val="560"/>
              </a:spcBef>
              <a:buNone/>
            </a:pPr>
            <a:r>
              <a:rPr lang="en" sz="2400">
                <a:latin typeface="Calibri"/>
                <a:ea typeface="Calibri"/>
                <a:cs typeface="Calibri"/>
                <a:sym typeface="Calibri"/>
              </a:rPr>
              <a:t>- Questionable research practices</a:t>
            </a:r>
          </a:p>
          <a:p>
            <a:pPr lvl="0" rtl="0">
              <a:spcBef>
                <a:spcPts val="560"/>
              </a:spcBef>
              <a:buNone/>
            </a:pPr>
            <a:r>
              <a:rPr lang="en" sz="2400">
                <a:latin typeface="Calibri"/>
                <a:ea typeface="Calibri"/>
                <a:cs typeface="Calibri"/>
                <a:sym typeface="Calibri"/>
              </a:rPr>
              <a:t>- Overabundance of positive results</a:t>
            </a:r>
          </a:p>
          <a:p>
            <a:pPr lvl="0" rtl="0">
              <a:spcBef>
                <a:spcPts val="560"/>
              </a:spcBef>
              <a:buNone/>
            </a:pPr>
            <a:r>
              <a:rPr lang="en" sz="2400">
                <a:latin typeface="Calibri"/>
                <a:ea typeface="Calibri"/>
                <a:cs typeface="Calibri"/>
                <a:sym typeface="Calibri"/>
              </a:rPr>
              <a:t>- Ignoring null results</a:t>
            </a:r>
          </a:p>
          <a:p>
            <a:pPr lvl="0" rtl="0">
              <a:spcBef>
                <a:spcPts val="560"/>
              </a:spcBef>
              <a:buNone/>
            </a:pPr>
            <a:r>
              <a:rPr lang="en" sz="2400">
                <a:latin typeface="Calibri"/>
                <a:ea typeface="Calibri"/>
                <a:cs typeface="Calibri"/>
                <a:sym typeface="Calibri"/>
              </a:rPr>
              <a:t>- Lack of replication</a:t>
            </a:r>
          </a:p>
          <a:p>
            <a:pPr lvl="0" rtl="0">
              <a:spcBef>
                <a:spcPts val="560"/>
              </a:spcBef>
              <a:buNone/>
            </a:pPr>
            <a:r>
              <a:rPr lang="en" sz="2400">
                <a:latin typeface="Calibri"/>
                <a:ea typeface="Calibri"/>
                <a:cs typeface="Calibri"/>
                <a:sym typeface="Calibri"/>
              </a:rPr>
              <a:t>- Limitations of NHST</a:t>
            </a:r>
          </a:p>
          <a:p>
            <a:endParaRPr lang="en" sz="2400">
              <a:latin typeface="Calibri"/>
              <a:ea typeface="Calibri"/>
              <a:cs typeface="Calibri"/>
              <a:sym typeface="Calibri"/>
            </a:endParaRPr>
          </a:p>
          <a:p>
            <a:pPr lvl="0" rtl="0">
              <a:spcBef>
                <a:spcPts val="0"/>
              </a:spcBef>
              <a:buClr>
                <a:srgbClr val="000000"/>
              </a:buClr>
              <a:buSzPct val="55000"/>
              <a:buFont typeface="Arial"/>
              <a:buNone/>
            </a:pPr>
            <a:r>
              <a:rPr lang="en" sz="2000">
                <a:latin typeface="Calibri"/>
                <a:ea typeface="Calibri"/>
                <a:cs typeface="Calibri"/>
                <a:sym typeface="Calibri"/>
              </a:rPr>
              <a:t>Sterling, 1959; Cohen, 1962; Lykken, 1968; Tukey, 1969; Greenwald, 1975; Meehl, 1978; Rosenthal, 1979</a:t>
            </a:r>
          </a:p>
          <a:p>
            <a:endParaRPr lang="en" sz="2000">
              <a:latin typeface="Calibri"/>
              <a:ea typeface="Calibri"/>
              <a:cs typeface="Calibri"/>
              <a:sym typeface="Calibri"/>
            </a:endParaRPr>
          </a:p>
        </p:txBody>
      </p:sp>
    </p:spTree>
  </p:cSld>
  <p:clrMapOvr>
    <a:masterClrMapping/>
  </p:clrMapOvr>
  <p:transition xmlns:p14="http://schemas.microsoft.com/office/powerpoint/2010/main" spd="slow">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Shape 145"/>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buNone/>
            </a:pPr>
            <a:r>
              <a:rPr lang="en"/>
              <a:t>What’s the problem?</a:t>
            </a:r>
          </a:p>
        </p:txBody>
      </p:sp>
      <p:sp>
        <p:nvSpPr>
          <p:cNvPr id="146" name="Shape 146"/>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lvl="0" rtl="0">
              <a:buNone/>
            </a:pPr>
            <a:r>
              <a:rPr lang="en" sz="2400"/>
              <a:t>Incentive structure</a:t>
            </a:r>
          </a:p>
          <a:p>
            <a:pPr marL="457200" lvl="0" indent="0" rtl="0">
              <a:buNone/>
            </a:pPr>
            <a:r>
              <a:rPr lang="en" sz="2400"/>
              <a:t>- null results and replications are hard to publish</a:t>
            </a:r>
            <a:r>
              <a:rPr lang="en"/>
              <a:t> </a:t>
            </a:r>
          </a:p>
          <a:p>
            <a:pPr lvl="0" rtl="0">
              <a:buNone/>
            </a:pPr>
            <a:r>
              <a:rPr lang="en" sz="2400"/>
              <a:t>Personal barriers</a:t>
            </a:r>
          </a:p>
          <a:p>
            <a:pPr marL="457200" lvl="0" indent="0" rtl="0">
              <a:buNone/>
            </a:pPr>
            <a:r>
              <a:rPr lang="en" sz="2400"/>
              <a:t>- motivated reasoning, getting it right isn’t as concrete as getting it published</a:t>
            </a:r>
          </a:p>
          <a:p>
            <a:endParaRPr lang="en" sz="2400"/>
          </a:p>
          <a:p>
            <a:endParaRPr lang="en" sz="2400"/>
          </a:p>
          <a:p>
            <a:pPr>
              <a:buNone/>
            </a:pPr>
            <a:r>
              <a:rPr lang="en" sz="1400"/>
              <a:t>(Nosek, Spies, Motyl, 2012; Kunda, 1990; Trope &amp; Liberman, 2010)</a:t>
            </a:r>
          </a:p>
        </p:txBody>
      </p:sp>
    </p:spTree>
  </p:cSld>
  <p:clrMapOvr>
    <a:masterClrMapping/>
  </p:clrMapOvr>
  <p:transition xmlns:p14="http://schemas.microsoft.com/office/powerpoint/2010/mai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Shape 151"/>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buNone/>
            </a:pPr>
            <a:r>
              <a:rPr lang="en"/>
              <a:t>What’s the solution?</a:t>
            </a:r>
          </a:p>
        </p:txBody>
      </p:sp>
      <p:sp>
        <p:nvSpPr>
          <p:cNvPr id="152" name="Shape 152"/>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lvl="0" rtl="0">
              <a:spcBef>
                <a:spcPts val="0"/>
              </a:spcBef>
              <a:buNone/>
            </a:pPr>
            <a:r>
              <a:rPr lang="en" sz="2400">
                <a:latin typeface="Calibri"/>
                <a:ea typeface="Calibri"/>
                <a:cs typeface="Calibri"/>
                <a:sym typeface="Calibri"/>
              </a:rPr>
              <a:t>- Transparency</a:t>
            </a:r>
          </a:p>
          <a:p>
            <a:pPr lvl="0" rtl="0">
              <a:spcBef>
                <a:spcPts val="640"/>
              </a:spcBef>
              <a:buNone/>
            </a:pPr>
            <a:r>
              <a:rPr lang="en" sz="2400">
                <a:latin typeface="Calibri"/>
                <a:ea typeface="Calibri"/>
                <a:cs typeface="Calibri"/>
                <a:sym typeface="Calibri"/>
              </a:rPr>
              <a:t>- Distinguishing confirmatory v. exploratory </a:t>
            </a:r>
          </a:p>
          <a:p>
            <a:pPr lvl="0" rtl="0">
              <a:spcBef>
                <a:spcPts val="640"/>
              </a:spcBef>
              <a:buNone/>
            </a:pPr>
            <a:r>
              <a:rPr lang="en" sz="2400">
                <a:latin typeface="Calibri"/>
                <a:ea typeface="Calibri"/>
                <a:cs typeface="Calibri"/>
                <a:sym typeface="Calibri"/>
              </a:rPr>
              <a:t>- Replication</a:t>
            </a:r>
          </a:p>
          <a:p>
            <a:pPr lvl="0" rtl="0">
              <a:spcBef>
                <a:spcPts val="640"/>
              </a:spcBef>
              <a:buNone/>
            </a:pPr>
            <a:r>
              <a:rPr lang="en" sz="2400">
                <a:latin typeface="Calibri"/>
                <a:ea typeface="Calibri"/>
                <a:cs typeface="Calibri"/>
                <a:sym typeface="Calibri"/>
              </a:rPr>
              <a:t>- Aggregation of evidence</a:t>
            </a:r>
          </a:p>
          <a:p>
            <a:pPr lvl="0" rtl="0">
              <a:spcBef>
                <a:spcPts val="640"/>
              </a:spcBef>
              <a:buNone/>
            </a:pPr>
            <a:r>
              <a:rPr lang="en" sz="2400">
                <a:latin typeface="Calibri"/>
                <a:ea typeface="Calibri"/>
                <a:cs typeface="Calibri"/>
                <a:sym typeface="Calibri"/>
              </a:rPr>
              <a:t>- Narrow use of NHST</a:t>
            </a:r>
          </a:p>
          <a:p>
            <a:endParaRPr lang="en" sz="2400">
              <a:latin typeface="Calibri"/>
              <a:ea typeface="Calibri"/>
              <a:cs typeface="Calibri"/>
              <a:sym typeface="Calibri"/>
            </a:endParaRPr>
          </a:p>
          <a:p>
            <a:endParaRPr lang="en" sz="2400">
              <a:latin typeface="Calibri"/>
              <a:ea typeface="Calibri"/>
              <a:cs typeface="Calibri"/>
              <a:sym typeface="Calibri"/>
            </a:endParaRPr>
          </a:p>
          <a:p>
            <a:pPr lvl="0">
              <a:spcBef>
                <a:spcPts val="640"/>
              </a:spcBef>
              <a:buNone/>
            </a:pPr>
            <a:r>
              <a:rPr lang="en" sz="2000">
                <a:latin typeface="Calibri"/>
                <a:ea typeface="Calibri"/>
                <a:cs typeface="Calibri"/>
                <a:sym typeface="Calibri"/>
              </a:rPr>
              <a:t>Sterling, 1959; Cohen, 1962; Lykken, 1968; Tukey, 1969; Greenwald, 1975; Meehl, 1978; Rosenthal, 1979</a:t>
            </a:r>
          </a:p>
        </p:txBody>
      </p:sp>
    </p:spTree>
  </p:cSld>
  <p:clrMapOvr>
    <a:masterClrMapping/>
  </p:clrMapOvr>
  <p:transition xmlns:p14="http://schemas.microsoft.com/office/powerpoint/2010/mai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Shape 157"/>
          <p:cNvSpPr/>
          <p:nvPr/>
        </p:nvSpPr>
        <p:spPr>
          <a:xfrm>
            <a:off x="2286000" y="857250"/>
            <a:ext cx="4572000" cy="3429000"/>
          </a:xfrm>
          <a:prstGeom prst="rect">
            <a:avLst/>
          </a:prstGeom>
          <a:blipFill>
            <a:blip r:embed="rId3"/>
            <a:stretch>
              <a:fillRect/>
            </a:stretch>
          </a:blipFill>
        </p:spPr>
      </p:sp>
    </p:spTree>
  </p:cSld>
  <p:clrMapOvr>
    <a:masterClrMapping/>
  </p:clrMapOvr>
  <p:transition xmlns:p14="http://schemas.microsoft.com/office/powerpoint/2010/main" spd="slow">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Shape 162"/>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buNone/>
            </a:pPr>
            <a:r>
              <a:rPr lang="en"/>
              <a:t>How can we solve this?</a:t>
            </a:r>
          </a:p>
        </p:txBody>
      </p:sp>
      <p:sp>
        <p:nvSpPr>
          <p:cNvPr id="163" name="Shape 163"/>
          <p:cNvSpPr txBox="1"/>
          <p:nvPr/>
        </p:nvSpPr>
        <p:spPr>
          <a:xfrm>
            <a:off x="5258725" y="2911725"/>
            <a:ext cx="3509100" cy="581400"/>
          </a:xfrm>
          <a:prstGeom prst="rect">
            <a:avLst/>
          </a:prstGeom>
        </p:spPr>
        <p:txBody>
          <a:bodyPr lIns="91425" tIns="91425" rIns="91425" bIns="91425" anchor="t" anchorCtr="0">
            <a:noAutofit/>
          </a:bodyPr>
          <a:lstStyle/>
          <a:p>
            <a:pPr>
              <a:buNone/>
            </a:pPr>
            <a:r>
              <a:rPr lang="en" sz="2800" b="1"/>
              <a:t>INFRASTRUCTURE</a:t>
            </a:r>
          </a:p>
        </p:txBody>
      </p:sp>
      <p:sp>
        <p:nvSpPr>
          <p:cNvPr id="164" name="Shape 164"/>
          <p:cNvSpPr txBox="1"/>
          <p:nvPr/>
        </p:nvSpPr>
        <p:spPr>
          <a:xfrm>
            <a:off x="3369900" y="3540537"/>
            <a:ext cx="2404200" cy="581400"/>
          </a:xfrm>
          <a:prstGeom prst="rect">
            <a:avLst/>
          </a:prstGeom>
        </p:spPr>
        <p:txBody>
          <a:bodyPr lIns="91425" tIns="91425" rIns="91425" bIns="91425" anchor="t" anchorCtr="0">
            <a:noAutofit/>
          </a:bodyPr>
          <a:lstStyle/>
          <a:p>
            <a:pPr lvl="0" rtl="0">
              <a:buNone/>
            </a:pPr>
            <a:r>
              <a:rPr lang="en" sz="2800" b="1"/>
              <a:t>COMMUNITY</a:t>
            </a:r>
          </a:p>
        </p:txBody>
      </p:sp>
      <p:sp>
        <p:nvSpPr>
          <p:cNvPr id="165" name="Shape 165"/>
          <p:cNvSpPr txBox="1"/>
          <p:nvPr/>
        </p:nvSpPr>
        <p:spPr>
          <a:xfrm>
            <a:off x="457200" y="4169350"/>
            <a:ext cx="2912699" cy="581400"/>
          </a:xfrm>
          <a:prstGeom prst="rect">
            <a:avLst/>
          </a:prstGeom>
        </p:spPr>
        <p:txBody>
          <a:bodyPr lIns="91425" tIns="91425" rIns="91425" bIns="91425" anchor="t" anchorCtr="0">
            <a:noAutofit/>
          </a:bodyPr>
          <a:lstStyle/>
          <a:p>
            <a:pPr lvl="0" rtl="0">
              <a:buNone/>
            </a:pPr>
            <a:r>
              <a:rPr lang="en" sz="2800" b="1"/>
              <a:t>METASCIENCE</a:t>
            </a:r>
          </a:p>
        </p:txBody>
      </p:sp>
      <p:sp>
        <p:nvSpPr>
          <p:cNvPr id="166" name="Shape 166"/>
          <p:cNvSpPr/>
          <p:nvPr/>
        </p:nvSpPr>
        <p:spPr>
          <a:xfrm>
            <a:off x="3291112" y="1219012"/>
            <a:ext cx="2561775" cy="1537074"/>
          </a:xfrm>
          <a:prstGeom prst="rect">
            <a:avLst/>
          </a:prstGeom>
          <a:blipFill>
            <a:blip r:embed="rId3"/>
            <a:stretch>
              <a:fillRect/>
            </a:stretch>
          </a:blipFill>
          <a:ln>
            <a:noFill/>
          </a:ln>
        </p:spPr>
      </p:sp>
    </p:spTree>
  </p:cSld>
  <p:clrMapOvr>
    <a:masterClrMapping/>
  </p:clrMapOvr>
  <p:transition xmlns:p14="http://schemas.microsoft.com/office/powerpoint/2010/main" spd="slow">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Shape 171"/>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buNone/>
            </a:pPr>
            <a:r>
              <a:rPr lang="en"/>
              <a:t>Metascience</a:t>
            </a:r>
          </a:p>
        </p:txBody>
      </p:sp>
      <p:sp>
        <p:nvSpPr>
          <p:cNvPr id="172" name="Shape 172"/>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lvl="0" rtl="0">
              <a:buNone/>
            </a:pPr>
            <a:r>
              <a:rPr lang="en" sz="2400"/>
              <a:t>- Conduct research to better understand the problem</a:t>
            </a:r>
          </a:p>
          <a:p>
            <a:pPr>
              <a:buNone/>
            </a:pPr>
            <a:r>
              <a:rPr lang="en" sz="2400"/>
              <a:t>	- Reproducibility Project, Archival Project</a:t>
            </a:r>
          </a:p>
        </p:txBody>
      </p:sp>
      <p:sp>
        <p:nvSpPr>
          <p:cNvPr id="173" name="Shape 173"/>
          <p:cNvSpPr/>
          <p:nvPr/>
        </p:nvSpPr>
        <p:spPr>
          <a:xfrm>
            <a:off x="2075436" y="2469250"/>
            <a:ext cx="4993124" cy="2456600"/>
          </a:xfrm>
          <a:prstGeom prst="rect">
            <a:avLst/>
          </a:prstGeom>
          <a:blipFill>
            <a:blip r:embed="rId3"/>
            <a:stretch>
              <a:fillRect/>
            </a:stretch>
          </a:blipFill>
          <a:ln>
            <a:noFill/>
          </a:ln>
        </p:spPr>
      </p:sp>
    </p:spTree>
  </p:cSld>
  <p:clrMapOvr>
    <a:masterClrMapping/>
  </p:clrMapOvr>
  <p:transition xmlns:p14="http://schemas.microsoft.com/office/powerpoint/2010/mai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Shape 178"/>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buNone/>
            </a:pPr>
            <a:r>
              <a:rPr lang="en"/>
              <a:t>Community</a:t>
            </a:r>
          </a:p>
        </p:txBody>
      </p:sp>
      <p:sp>
        <p:nvSpPr>
          <p:cNvPr id="179" name="Shape 179"/>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lvl="0" rtl="0">
              <a:buNone/>
            </a:pPr>
            <a:r>
              <a:rPr lang="en"/>
              <a:t>- Unite technological initiatives</a:t>
            </a:r>
          </a:p>
          <a:p>
            <a:pPr lvl="0" rtl="0">
              <a:buNone/>
            </a:pPr>
            <a:r>
              <a:rPr lang="en"/>
              <a:t>- Unite researchers</a:t>
            </a:r>
          </a:p>
          <a:p>
            <a:pPr>
              <a:buNone/>
            </a:pPr>
            <a:r>
              <a:rPr lang="en"/>
              <a:t>- Enable common standards and rewards</a:t>
            </a:r>
          </a:p>
        </p:txBody>
      </p:sp>
    </p:spTree>
  </p:cSld>
  <p:clrMapOvr>
    <a:masterClrMapping/>
  </p:clrMapOvr>
  <p:transition xmlns:p14="http://schemas.microsoft.com/office/powerpoint/2010/mai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Shape 184"/>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buNone/>
            </a:pPr>
            <a:r>
              <a:rPr lang="en"/>
              <a:t>Community</a:t>
            </a:r>
          </a:p>
        </p:txBody>
      </p:sp>
      <p:sp>
        <p:nvSpPr>
          <p:cNvPr id="185" name="Shape 185"/>
          <p:cNvSpPr/>
          <p:nvPr/>
        </p:nvSpPr>
        <p:spPr>
          <a:xfrm>
            <a:off x="1381600" y="1139575"/>
            <a:ext cx="2108908" cy="1942100"/>
          </a:xfrm>
          <a:prstGeom prst="rect">
            <a:avLst/>
          </a:prstGeom>
          <a:blipFill>
            <a:blip r:embed="rId3"/>
            <a:stretch>
              <a:fillRect/>
            </a:stretch>
          </a:blipFill>
        </p:spPr>
      </p:sp>
      <p:sp>
        <p:nvSpPr>
          <p:cNvPr id="186" name="Shape 186"/>
          <p:cNvSpPr/>
          <p:nvPr/>
        </p:nvSpPr>
        <p:spPr>
          <a:xfrm>
            <a:off x="3544582" y="1139575"/>
            <a:ext cx="2069680" cy="1940898"/>
          </a:xfrm>
          <a:prstGeom prst="rect">
            <a:avLst/>
          </a:prstGeom>
          <a:blipFill>
            <a:blip r:embed="rId4"/>
            <a:stretch>
              <a:fillRect/>
            </a:stretch>
          </a:blipFill>
        </p:spPr>
      </p:sp>
      <p:sp>
        <p:nvSpPr>
          <p:cNvPr id="187" name="Shape 187"/>
          <p:cNvSpPr txBox="1"/>
          <p:nvPr/>
        </p:nvSpPr>
        <p:spPr>
          <a:xfrm>
            <a:off x="457200" y="3340750"/>
            <a:ext cx="8111399" cy="962400"/>
          </a:xfrm>
          <a:prstGeom prst="rect">
            <a:avLst/>
          </a:prstGeom>
        </p:spPr>
        <p:txBody>
          <a:bodyPr lIns="91425" tIns="91425" rIns="91425" bIns="91425" anchor="t" anchorCtr="0">
            <a:noAutofit/>
          </a:bodyPr>
          <a:lstStyle/>
          <a:p>
            <a:pPr lvl="0" rtl="0">
              <a:buNone/>
            </a:pPr>
            <a:r>
              <a:rPr lang="en" b="1"/>
              <a:t>Endorsements and adoptions:</a:t>
            </a:r>
          </a:p>
          <a:p>
            <a:pPr>
              <a:buNone/>
            </a:pPr>
            <a:r>
              <a:rPr lang="en"/>
              <a:t>Bio, Tech &amp; Beyond, Databrary, DataOne, Dataverse Network Project, Duraspace, EAPP, Fetzer Franklin Fund, Figshare, LJAF, Mozilla Science Lab, Network for Open Scientific Innovation, Open Science Federation, OpenfMRI, Prometheus Research, Psi Chi, PsychoPy, Reproducibility Initiative, Science Exchange, Cortex, European Journal of Personality, Journal of Research in Personality, Psi Chi Journal, Psychological Science, Journal of Social Psychology, Human Computation, Journal of Vision</a:t>
            </a:r>
          </a:p>
        </p:txBody>
      </p:sp>
      <p:sp>
        <p:nvSpPr>
          <p:cNvPr id="188" name="Shape 188"/>
          <p:cNvSpPr/>
          <p:nvPr/>
        </p:nvSpPr>
        <p:spPr>
          <a:xfrm>
            <a:off x="5667468" y="1143700"/>
            <a:ext cx="2069700" cy="1942100"/>
          </a:xfrm>
          <a:prstGeom prst="rect">
            <a:avLst/>
          </a:prstGeom>
          <a:blipFill>
            <a:blip r:embed="rId5"/>
            <a:stretch>
              <a:fillRect/>
            </a:stretch>
          </a:blipFill>
        </p:spPr>
      </p:sp>
    </p:spTree>
  </p:cSld>
  <p:clrMapOvr>
    <a:masterClrMapping/>
  </p:clrMapOvr>
  <p:transition xmlns:p14="http://schemas.microsoft.com/office/powerpoint/2010/main" spd="slow">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Shape 193"/>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buNone/>
            </a:pPr>
            <a:r>
              <a:rPr lang="en"/>
              <a:t>Infrastructure</a:t>
            </a:r>
          </a:p>
        </p:txBody>
      </p:sp>
      <p:sp>
        <p:nvSpPr>
          <p:cNvPr id="194" name="Shape 194"/>
          <p:cNvSpPr txBox="1">
            <a:spLocks noGrp="1"/>
          </p:cNvSpPr>
          <p:nvPr>
            <p:ph type="body" idx="1"/>
          </p:nvPr>
        </p:nvSpPr>
        <p:spPr>
          <a:xfrm>
            <a:off x="457200" y="3118075"/>
            <a:ext cx="8229600" cy="1708500"/>
          </a:xfrm>
          <a:prstGeom prst="rect">
            <a:avLst/>
          </a:prstGeom>
        </p:spPr>
        <p:txBody>
          <a:bodyPr lIns="91425" tIns="91425" rIns="91425" bIns="91425" anchor="t" anchorCtr="0">
            <a:noAutofit/>
          </a:bodyPr>
          <a:lstStyle/>
          <a:p>
            <a:pPr lvl="0" rtl="0">
              <a:spcBef>
                <a:spcPts val="640"/>
              </a:spcBef>
              <a:buNone/>
            </a:pPr>
            <a:r>
              <a:rPr lang="en" sz="2400">
                <a:latin typeface="Calibri"/>
                <a:ea typeface="Calibri"/>
                <a:cs typeface="Calibri"/>
                <a:sym typeface="Calibri"/>
              </a:rPr>
              <a:t>Support the way researchers work right now</a:t>
            </a:r>
          </a:p>
          <a:p>
            <a:pPr lvl="0" rtl="0">
              <a:spcBef>
                <a:spcPts val="640"/>
              </a:spcBef>
              <a:buNone/>
            </a:pPr>
            <a:r>
              <a:rPr lang="en" sz="2400">
                <a:latin typeface="Calibri"/>
                <a:ea typeface="Calibri"/>
                <a:cs typeface="Calibri"/>
                <a:sym typeface="Calibri"/>
              </a:rPr>
              <a:t>Enable: </a:t>
            </a:r>
            <a:r>
              <a:rPr lang="en" sz="1800">
                <a:latin typeface="Calibri"/>
                <a:ea typeface="Calibri"/>
                <a:cs typeface="Calibri"/>
                <a:sym typeface="Calibri"/>
              </a:rPr>
              <a:t> open materials, data; registration of hypotheses; pre/post data collection reports;  tools to connect projects and initiatives and to increase their audiences; easy, online publishing of any results and simple distribution of those ideas</a:t>
            </a:r>
          </a:p>
          <a:p>
            <a:endParaRPr lang="en" sz="1800">
              <a:latin typeface="Calibri"/>
              <a:ea typeface="Calibri"/>
              <a:cs typeface="Calibri"/>
              <a:sym typeface="Calibri"/>
            </a:endParaRPr>
          </a:p>
          <a:p>
            <a:endParaRPr lang="en" sz="1800">
              <a:latin typeface="Calibri"/>
              <a:ea typeface="Calibri"/>
              <a:cs typeface="Calibri"/>
              <a:sym typeface="Calibri"/>
            </a:endParaRPr>
          </a:p>
          <a:p>
            <a:endParaRPr lang="en" sz="1800">
              <a:latin typeface="Calibri"/>
              <a:ea typeface="Calibri"/>
              <a:cs typeface="Calibri"/>
              <a:sym typeface="Calibri"/>
            </a:endParaRPr>
          </a:p>
        </p:txBody>
      </p:sp>
      <p:sp>
        <p:nvSpPr>
          <p:cNvPr id="195" name="Shape 195"/>
          <p:cNvSpPr/>
          <p:nvPr/>
        </p:nvSpPr>
        <p:spPr>
          <a:xfrm>
            <a:off x="2273475" y="1063375"/>
            <a:ext cx="4597050" cy="1863050"/>
          </a:xfrm>
          <a:prstGeom prst="rect">
            <a:avLst/>
          </a:prstGeom>
          <a:blipFill>
            <a:blip r:embed="rId3"/>
            <a:stretch>
              <a:fillRect/>
            </a:stretch>
          </a:blipFill>
          <a:ln>
            <a:noFill/>
          </a:ln>
        </p:spPr>
      </p:sp>
    </p:spTree>
  </p:cSld>
  <p:clrMapOvr>
    <a:masterClrMapping/>
  </p:clrMapOvr>
  <p:transition xmlns:p14="http://schemas.microsoft.com/office/powerpoint/2010/mai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Shape 200"/>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buNone/>
            </a:pPr>
            <a:r>
              <a:rPr lang="en"/>
              <a:t>Infrastructure</a:t>
            </a:r>
          </a:p>
        </p:txBody>
      </p:sp>
      <p:sp>
        <p:nvSpPr>
          <p:cNvPr id="201" name="Shape 201"/>
          <p:cNvSpPr/>
          <p:nvPr/>
        </p:nvSpPr>
        <p:spPr>
          <a:xfrm>
            <a:off x="1185462" y="1340077"/>
            <a:ext cx="2670633" cy="2095117"/>
          </a:xfrm>
          <a:prstGeom prst="rect">
            <a:avLst/>
          </a:prstGeom>
          <a:blipFill>
            <a:blip r:embed="rId3"/>
            <a:stretch>
              <a:fillRect/>
            </a:stretch>
          </a:blipFill>
        </p:spPr>
      </p:sp>
      <p:sp>
        <p:nvSpPr>
          <p:cNvPr id="202" name="Shape 202"/>
          <p:cNvSpPr/>
          <p:nvPr/>
        </p:nvSpPr>
        <p:spPr>
          <a:xfrm>
            <a:off x="5308618" y="1340077"/>
            <a:ext cx="2563036" cy="910616"/>
          </a:xfrm>
          <a:prstGeom prst="rect">
            <a:avLst/>
          </a:prstGeom>
          <a:blipFill>
            <a:blip r:embed="rId4"/>
            <a:stretch>
              <a:fillRect/>
            </a:stretch>
          </a:blipFill>
        </p:spPr>
      </p:sp>
      <p:sp>
        <p:nvSpPr>
          <p:cNvPr id="203" name="Shape 203"/>
          <p:cNvSpPr/>
          <p:nvPr/>
        </p:nvSpPr>
        <p:spPr>
          <a:xfrm>
            <a:off x="5444149" y="3336800"/>
            <a:ext cx="2211999" cy="687425"/>
          </a:xfrm>
          <a:prstGeom prst="rect">
            <a:avLst/>
          </a:prstGeom>
          <a:blipFill>
            <a:blip r:embed="rId5"/>
            <a:stretch>
              <a:fillRect/>
            </a:stretch>
          </a:blipFill>
        </p:spPr>
      </p:sp>
      <p:sp>
        <p:nvSpPr>
          <p:cNvPr id="204" name="Shape 204"/>
          <p:cNvSpPr/>
          <p:nvPr/>
        </p:nvSpPr>
        <p:spPr>
          <a:xfrm>
            <a:off x="5367944" y="2387637"/>
            <a:ext cx="1878673" cy="640175"/>
          </a:xfrm>
          <a:prstGeom prst="rect">
            <a:avLst/>
          </a:prstGeom>
          <a:blipFill>
            <a:blip r:embed="rId6"/>
            <a:stretch>
              <a:fillRect/>
            </a:stretch>
          </a:blipFill>
        </p:spPr>
      </p:sp>
      <p:sp>
        <p:nvSpPr>
          <p:cNvPr id="205" name="Shape 205"/>
          <p:cNvSpPr/>
          <p:nvPr/>
        </p:nvSpPr>
        <p:spPr>
          <a:xfrm>
            <a:off x="5308618" y="4075371"/>
            <a:ext cx="1839123" cy="1008405"/>
          </a:xfrm>
          <a:prstGeom prst="rect">
            <a:avLst/>
          </a:prstGeom>
          <a:blipFill>
            <a:blip r:embed="rId7"/>
            <a:stretch>
              <a:fillRect/>
            </a:stretch>
          </a:blipFill>
        </p:spPr>
      </p:sp>
      <p:cxnSp>
        <p:nvCxnSpPr>
          <p:cNvPr id="206" name="Shape 206"/>
          <p:cNvCxnSpPr>
            <a:stCxn id="201" idx="3"/>
            <a:endCxn id="207" idx="1"/>
          </p:cNvCxnSpPr>
          <p:nvPr/>
        </p:nvCxnSpPr>
        <p:spPr>
          <a:xfrm rot="10800000" flipH="1">
            <a:off x="3856095" y="626037"/>
            <a:ext cx="1512000" cy="1761599"/>
          </a:xfrm>
          <a:prstGeom prst="straightConnector1">
            <a:avLst/>
          </a:prstGeom>
          <a:noFill/>
          <a:ln w="19050" cap="flat">
            <a:solidFill>
              <a:srgbClr val="FF0000"/>
            </a:solidFill>
            <a:prstDash val="solid"/>
            <a:round/>
            <a:headEnd type="none" w="med" len="med"/>
            <a:tailEnd type="stealth" w="lg" len="lg"/>
          </a:ln>
        </p:spPr>
      </p:cxnSp>
      <p:cxnSp>
        <p:nvCxnSpPr>
          <p:cNvPr id="208" name="Shape 208"/>
          <p:cNvCxnSpPr>
            <a:stCxn id="201" idx="3"/>
            <a:endCxn id="202" idx="1"/>
          </p:cNvCxnSpPr>
          <p:nvPr/>
        </p:nvCxnSpPr>
        <p:spPr>
          <a:xfrm rot="10800000" flipH="1">
            <a:off x="3856095" y="1795437"/>
            <a:ext cx="1452600" cy="592200"/>
          </a:xfrm>
          <a:prstGeom prst="straightConnector1">
            <a:avLst/>
          </a:prstGeom>
          <a:noFill/>
          <a:ln w="19050" cap="flat">
            <a:solidFill>
              <a:srgbClr val="FF0000"/>
            </a:solidFill>
            <a:prstDash val="solid"/>
            <a:round/>
            <a:headEnd type="none" w="med" len="med"/>
            <a:tailEnd type="stealth" w="lg" len="lg"/>
          </a:ln>
        </p:spPr>
      </p:cxnSp>
      <p:cxnSp>
        <p:nvCxnSpPr>
          <p:cNvPr id="209" name="Shape 209"/>
          <p:cNvCxnSpPr>
            <a:stCxn id="201" idx="3"/>
            <a:endCxn id="204" idx="1"/>
          </p:cNvCxnSpPr>
          <p:nvPr/>
        </p:nvCxnSpPr>
        <p:spPr>
          <a:xfrm>
            <a:off x="3856095" y="2387637"/>
            <a:ext cx="1512000" cy="320100"/>
          </a:xfrm>
          <a:prstGeom prst="straightConnector1">
            <a:avLst/>
          </a:prstGeom>
          <a:noFill/>
          <a:ln w="19050" cap="flat">
            <a:solidFill>
              <a:srgbClr val="FF0000"/>
            </a:solidFill>
            <a:prstDash val="solid"/>
            <a:round/>
            <a:headEnd type="none" w="med" len="med"/>
            <a:tailEnd type="stealth" w="lg" len="lg"/>
          </a:ln>
        </p:spPr>
      </p:cxnSp>
      <p:cxnSp>
        <p:nvCxnSpPr>
          <p:cNvPr id="210" name="Shape 210"/>
          <p:cNvCxnSpPr>
            <a:stCxn id="201" idx="3"/>
            <a:endCxn id="203" idx="1"/>
          </p:cNvCxnSpPr>
          <p:nvPr/>
        </p:nvCxnSpPr>
        <p:spPr>
          <a:xfrm>
            <a:off x="3856095" y="2387637"/>
            <a:ext cx="1512000" cy="1275599"/>
          </a:xfrm>
          <a:prstGeom prst="straightConnector1">
            <a:avLst/>
          </a:prstGeom>
          <a:noFill/>
          <a:ln w="19050" cap="flat">
            <a:solidFill>
              <a:srgbClr val="FF0000"/>
            </a:solidFill>
            <a:prstDash val="solid"/>
            <a:round/>
            <a:headEnd type="none" w="med" len="med"/>
            <a:tailEnd type="stealth" w="lg" len="lg"/>
          </a:ln>
        </p:spPr>
      </p:cxnSp>
      <p:cxnSp>
        <p:nvCxnSpPr>
          <p:cNvPr id="211" name="Shape 211"/>
          <p:cNvCxnSpPr>
            <a:stCxn id="201" idx="3"/>
            <a:endCxn id="205" idx="1"/>
          </p:cNvCxnSpPr>
          <p:nvPr/>
        </p:nvCxnSpPr>
        <p:spPr>
          <a:xfrm>
            <a:off x="3856095" y="2387637"/>
            <a:ext cx="1452600" cy="2192100"/>
          </a:xfrm>
          <a:prstGeom prst="straightConnector1">
            <a:avLst/>
          </a:prstGeom>
          <a:noFill/>
          <a:ln w="19050" cap="flat">
            <a:solidFill>
              <a:srgbClr val="FF0000"/>
            </a:solidFill>
            <a:prstDash val="solid"/>
            <a:round/>
            <a:headEnd type="none" w="med" len="med"/>
            <a:tailEnd type="stealth" w="lg" len="lg"/>
          </a:ln>
        </p:spPr>
      </p:cxnSp>
      <p:sp>
        <p:nvSpPr>
          <p:cNvPr id="212" name="Shape 212"/>
          <p:cNvSpPr/>
          <p:nvPr/>
        </p:nvSpPr>
        <p:spPr>
          <a:xfrm>
            <a:off x="2917426" y="2455251"/>
            <a:ext cx="2047500" cy="2095200"/>
          </a:xfrm>
          <a:prstGeom prst="arc">
            <a:avLst>
              <a:gd name="adj1" fmla="val 3164762"/>
              <a:gd name="adj2" fmla="val 9941946"/>
            </a:avLst>
          </a:prstGeom>
          <a:noFill/>
          <a:ln w="38100" cap="flat">
            <a:solidFill>
              <a:srgbClr val="FF0000"/>
            </a:solidFill>
            <a:prstDash val="solid"/>
            <a:round/>
            <a:headEnd type="none" w="med" len="med"/>
            <a:tailEnd type="stealth" w="med" len="med"/>
          </a:ln>
        </p:spPr>
        <p:txBody>
          <a:bodyPr lIns="91425" tIns="91425" rIns="91425" bIns="91425" anchor="ctr" anchorCtr="0">
            <a:noAutofit/>
          </a:bodyPr>
          <a:lstStyle/>
          <a:p>
            <a:endParaRPr/>
          </a:p>
        </p:txBody>
      </p:sp>
      <p:sp>
        <p:nvSpPr>
          <p:cNvPr id="213" name="Shape 213"/>
          <p:cNvSpPr/>
          <p:nvPr/>
        </p:nvSpPr>
        <p:spPr>
          <a:xfrm>
            <a:off x="5501151" y="-48150"/>
            <a:ext cx="1745474" cy="1643025"/>
          </a:xfrm>
          <a:prstGeom prst="rect">
            <a:avLst/>
          </a:prstGeom>
          <a:blipFill>
            <a:blip r:embed="rId8"/>
            <a:stretch>
              <a:fillRect/>
            </a:stretch>
          </a:blipFill>
        </p:spPr>
      </p:sp>
    </p:spTree>
  </p:cSld>
  <p:clrMapOvr>
    <a:masterClrMapping/>
  </p:clrMapOvr>
  <p:transition xmlns:p14="http://schemas.microsoft.com/office/powerpoint/2010/main" spd="slow">
    <p:cut/>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anim calcmode="lin" valueType="num">
                                      <p:cBhvr additive="base">
                                        <p:cTn id="7" dur="1000"/>
                                        <p:tgtEl>
                                          <p:spTgt spid="202"/>
                                        </p:tgtEl>
                                        <p:attrNameLst>
                                          <p:attrName>ppt_w</p:attrName>
                                        </p:attrNameLst>
                                      </p:cBhvr>
                                      <p:tavLst>
                                        <p:tav tm="0">
                                          <p:val>
                                            <p:strVal val="0"/>
                                          </p:val>
                                        </p:tav>
                                        <p:tav tm="100000">
                                          <p:val>
                                            <p:strVal val="#ppt_w"/>
                                          </p:val>
                                        </p:tav>
                                      </p:tavLst>
                                    </p:anim>
                                    <p:anim calcmode="lin" valueType="num">
                                      <p:cBhvr additive="base">
                                        <p:cTn id="8" dur="1000"/>
                                        <p:tgtEl>
                                          <p:spTgt spid="202"/>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203"/>
                                        </p:tgtEl>
                                        <p:attrNameLst>
                                          <p:attrName>style.visibility</p:attrName>
                                        </p:attrNameLst>
                                      </p:cBhvr>
                                      <p:to>
                                        <p:strVal val="visible"/>
                                      </p:to>
                                    </p:set>
                                    <p:anim calcmode="lin" valueType="num">
                                      <p:cBhvr additive="base">
                                        <p:cTn id="11" dur="1000"/>
                                        <p:tgtEl>
                                          <p:spTgt spid="203"/>
                                        </p:tgtEl>
                                        <p:attrNameLst>
                                          <p:attrName>ppt_w</p:attrName>
                                        </p:attrNameLst>
                                      </p:cBhvr>
                                      <p:tavLst>
                                        <p:tav tm="0">
                                          <p:val>
                                            <p:strVal val="0"/>
                                          </p:val>
                                        </p:tav>
                                        <p:tav tm="100000">
                                          <p:val>
                                            <p:strVal val="#ppt_w"/>
                                          </p:val>
                                        </p:tav>
                                      </p:tavLst>
                                    </p:anim>
                                    <p:anim calcmode="lin" valueType="num">
                                      <p:cBhvr additive="base">
                                        <p:cTn id="12" dur="1000"/>
                                        <p:tgtEl>
                                          <p:spTgt spid="203"/>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204"/>
                                        </p:tgtEl>
                                        <p:attrNameLst>
                                          <p:attrName>style.visibility</p:attrName>
                                        </p:attrNameLst>
                                      </p:cBhvr>
                                      <p:to>
                                        <p:strVal val="visible"/>
                                      </p:to>
                                    </p:set>
                                    <p:anim calcmode="lin" valueType="num">
                                      <p:cBhvr additive="base">
                                        <p:cTn id="15" dur="1000"/>
                                        <p:tgtEl>
                                          <p:spTgt spid="204"/>
                                        </p:tgtEl>
                                        <p:attrNameLst>
                                          <p:attrName>ppt_w</p:attrName>
                                        </p:attrNameLst>
                                      </p:cBhvr>
                                      <p:tavLst>
                                        <p:tav tm="0">
                                          <p:val>
                                            <p:strVal val="0"/>
                                          </p:val>
                                        </p:tav>
                                        <p:tav tm="100000">
                                          <p:val>
                                            <p:strVal val="#ppt_w"/>
                                          </p:val>
                                        </p:tav>
                                      </p:tavLst>
                                    </p:anim>
                                    <p:anim calcmode="lin" valueType="num">
                                      <p:cBhvr additive="base">
                                        <p:cTn id="16" dur="1000"/>
                                        <p:tgtEl>
                                          <p:spTgt spid="204"/>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205"/>
                                        </p:tgtEl>
                                        <p:attrNameLst>
                                          <p:attrName>style.visibility</p:attrName>
                                        </p:attrNameLst>
                                      </p:cBhvr>
                                      <p:to>
                                        <p:strVal val="visible"/>
                                      </p:to>
                                    </p:set>
                                    <p:anim calcmode="lin" valueType="num">
                                      <p:cBhvr additive="base">
                                        <p:cTn id="19" dur="1000"/>
                                        <p:tgtEl>
                                          <p:spTgt spid="205"/>
                                        </p:tgtEl>
                                        <p:attrNameLst>
                                          <p:attrName>ppt_w</p:attrName>
                                        </p:attrNameLst>
                                      </p:cBhvr>
                                      <p:tavLst>
                                        <p:tav tm="0">
                                          <p:val>
                                            <p:strVal val="0"/>
                                          </p:val>
                                        </p:tav>
                                        <p:tav tm="100000">
                                          <p:val>
                                            <p:strVal val="#ppt_w"/>
                                          </p:val>
                                        </p:tav>
                                      </p:tavLst>
                                    </p:anim>
                                    <p:anim calcmode="lin" valueType="num">
                                      <p:cBhvr additive="base">
                                        <p:cTn id="20" dur="1000"/>
                                        <p:tgtEl>
                                          <p:spTgt spid="205"/>
                                        </p:tgtEl>
                                        <p:attrNameLst>
                                          <p:attrName>ppt_h</p:attrName>
                                        </p:attrNameLst>
                                      </p:cBhvr>
                                      <p:tavLst>
                                        <p:tav tm="0">
                                          <p:val>
                                            <p:strVal val="0"/>
                                          </p:val>
                                        </p:tav>
                                        <p:tav tm="100000">
                                          <p:val>
                                            <p:strVal val="#ppt_h"/>
                                          </p:val>
                                        </p:tav>
                                      </p:tavLst>
                                    </p:anim>
                                  </p:childTnLst>
                                </p:cTn>
                              </p:par>
                              <p:par>
                                <p:cTn id="21" presetID="23" presetClass="entr" presetSubtype="16" fill="hold" nodeType="withEffect">
                                  <p:stCondLst>
                                    <p:cond delay="0"/>
                                  </p:stCondLst>
                                  <p:childTnLst>
                                    <p:set>
                                      <p:cBhvr>
                                        <p:cTn id="22" dur="1" fill="hold">
                                          <p:stCondLst>
                                            <p:cond delay="0"/>
                                          </p:stCondLst>
                                        </p:cTn>
                                        <p:tgtEl>
                                          <p:spTgt spid="206"/>
                                        </p:tgtEl>
                                        <p:attrNameLst>
                                          <p:attrName>style.visibility</p:attrName>
                                        </p:attrNameLst>
                                      </p:cBhvr>
                                      <p:to>
                                        <p:strVal val="visible"/>
                                      </p:to>
                                    </p:set>
                                    <p:anim calcmode="lin" valueType="num">
                                      <p:cBhvr additive="base">
                                        <p:cTn id="23" dur="1000"/>
                                        <p:tgtEl>
                                          <p:spTgt spid="206"/>
                                        </p:tgtEl>
                                        <p:attrNameLst>
                                          <p:attrName>ppt_w</p:attrName>
                                        </p:attrNameLst>
                                      </p:cBhvr>
                                      <p:tavLst>
                                        <p:tav tm="0">
                                          <p:val>
                                            <p:strVal val="0"/>
                                          </p:val>
                                        </p:tav>
                                        <p:tav tm="100000">
                                          <p:val>
                                            <p:strVal val="#ppt_w"/>
                                          </p:val>
                                        </p:tav>
                                      </p:tavLst>
                                    </p:anim>
                                    <p:anim calcmode="lin" valueType="num">
                                      <p:cBhvr additive="base">
                                        <p:cTn id="24" dur="1000"/>
                                        <p:tgtEl>
                                          <p:spTgt spid="206"/>
                                        </p:tgtEl>
                                        <p:attrNameLst>
                                          <p:attrName>ppt_h</p:attrName>
                                        </p:attrNameLst>
                                      </p:cBhvr>
                                      <p:tavLst>
                                        <p:tav tm="0">
                                          <p:val>
                                            <p:strVal val="0"/>
                                          </p:val>
                                        </p:tav>
                                        <p:tav tm="100000">
                                          <p:val>
                                            <p:strVal val="#ppt_h"/>
                                          </p:val>
                                        </p:tav>
                                      </p:tavLst>
                                    </p:anim>
                                  </p:childTnLst>
                                </p:cTn>
                              </p:par>
                              <p:par>
                                <p:cTn id="25" presetID="23" presetClass="entr" presetSubtype="16" fill="hold" nodeType="withEffect">
                                  <p:stCondLst>
                                    <p:cond delay="0"/>
                                  </p:stCondLst>
                                  <p:childTnLst>
                                    <p:set>
                                      <p:cBhvr>
                                        <p:cTn id="26" dur="1" fill="hold">
                                          <p:stCondLst>
                                            <p:cond delay="0"/>
                                          </p:stCondLst>
                                        </p:cTn>
                                        <p:tgtEl>
                                          <p:spTgt spid="208"/>
                                        </p:tgtEl>
                                        <p:attrNameLst>
                                          <p:attrName>style.visibility</p:attrName>
                                        </p:attrNameLst>
                                      </p:cBhvr>
                                      <p:to>
                                        <p:strVal val="visible"/>
                                      </p:to>
                                    </p:set>
                                    <p:anim calcmode="lin" valueType="num">
                                      <p:cBhvr additive="base">
                                        <p:cTn id="27" dur="1000"/>
                                        <p:tgtEl>
                                          <p:spTgt spid="208"/>
                                        </p:tgtEl>
                                        <p:attrNameLst>
                                          <p:attrName>ppt_w</p:attrName>
                                        </p:attrNameLst>
                                      </p:cBhvr>
                                      <p:tavLst>
                                        <p:tav tm="0">
                                          <p:val>
                                            <p:strVal val="0"/>
                                          </p:val>
                                        </p:tav>
                                        <p:tav tm="100000">
                                          <p:val>
                                            <p:strVal val="#ppt_w"/>
                                          </p:val>
                                        </p:tav>
                                      </p:tavLst>
                                    </p:anim>
                                    <p:anim calcmode="lin" valueType="num">
                                      <p:cBhvr additive="base">
                                        <p:cTn id="28" dur="1000"/>
                                        <p:tgtEl>
                                          <p:spTgt spid="208"/>
                                        </p:tgtEl>
                                        <p:attrNameLst>
                                          <p:attrName>ppt_h</p:attrName>
                                        </p:attrNameLst>
                                      </p:cBhvr>
                                      <p:tavLst>
                                        <p:tav tm="0">
                                          <p:val>
                                            <p:strVal val="0"/>
                                          </p:val>
                                        </p:tav>
                                        <p:tav tm="100000">
                                          <p:val>
                                            <p:strVal val="#ppt_h"/>
                                          </p:val>
                                        </p:tav>
                                      </p:tavLst>
                                    </p:anim>
                                  </p:childTnLst>
                                </p:cTn>
                              </p:par>
                              <p:par>
                                <p:cTn id="29" presetID="23" presetClass="entr" presetSubtype="16" fill="hold" nodeType="withEffect">
                                  <p:stCondLst>
                                    <p:cond delay="0"/>
                                  </p:stCondLst>
                                  <p:childTnLst>
                                    <p:set>
                                      <p:cBhvr>
                                        <p:cTn id="30" dur="1" fill="hold">
                                          <p:stCondLst>
                                            <p:cond delay="0"/>
                                          </p:stCondLst>
                                        </p:cTn>
                                        <p:tgtEl>
                                          <p:spTgt spid="209"/>
                                        </p:tgtEl>
                                        <p:attrNameLst>
                                          <p:attrName>style.visibility</p:attrName>
                                        </p:attrNameLst>
                                      </p:cBhvr>
                                      <p:to>
                                        <p:strVal val="visible"/>
                                      </p:to>
                                    </p:set>
                                    <p:anim calcmode="lin" valueType="num">
                                      <p:cBhvr additive="base">
                                        <p:cTn id="31" dur="1000"/>
                                        <p:tgtEl>
                                          <p:spTgt spid="209"/>
                                        </p:tgtEl>
                                        <p:attrNameLst>
                                          <p:attrName>ppt_w</p:attrName>
                                        </p:attrNameLst>
                                      </p:cBhvr>
                                      <p:tavLst>
                                        <p:tav tm="0">
                                          <p:val>
                                            <p:strVal val="0"/>
                                          </p:val>
                                        </p:tav>
                                        <p:tav tm="100000">
                                          <p:val>
                                            <p:strVal val="#ppt_w"/>
                                          </p:val>
                                        </p:tav>
                                      </p:tavLst>
                                    </p:anim>
                                    <p:anim calcmode="lin" valueType="num">
                                      <p:cBhvr additive="base">
                                        <p:cTn id="32" dur="1000"/>
                                        <p:tgtEl>
                                          <p:spTgt spid="209"/>
                                        </p:tgtEl>
                                        <p:attrNameLst>
                                          <p:attrName>ppt_h</p:attrName>
                                        </p:attrNameLst>
                                      </p:cBhvr>
                                      <p:tavLst>
                                        <p:tav tm="0">
                                          <p:val>
                                            <p:strVal val="0"/>
                                          </p:val>
                                        </p:tav>
                                        <p:tav tm="100000">
                                          <p:val>
                                            <p:strVal val="#ppt_h"/>
                                          </p:val>
                                        </p:tav>
                                      </p:tavLst>
                                    </p:anim>
                                  </p:childTnLst>
                                </p:cTn>
                              </p:par>
                              <p:par>
                                <p:cTn id="33" presetID="23" presetClass="entr" presetSubtype="16" fill="hold" nodeType="withEffect">
                                  <p:stCondLst>
                                    <p:cond delay="0"/>
                                  </p:stCondLst>
                                  <p:childTnLst>
                                    <p:set>
                                      <p:cBhvr>
                                        <p:cTn id="34" dur="1" fill="hold">
                                          <p:stCondLst>
                                            <p:cond delay="0"/>
                                          </p:stCondLst>
                                        </p:cTn>
                                        <p:tgtEl>
                                          <p:spTgt spid="210"/>
                                        </p:tgtEl>
                                        <p:attrNameLst>
                                          <p:attrName>style.visibility</p:attrName>
                                        </p:attrNameLst>
                                      </p:cBhvr>
                                      <p:to>
                                        <p:strVal val="visible"/>
                                      </p:to>
                                    </p:set>
                                    <p:anim calcmode="lin" valueType="num">
                                      <p:cBhvr additive="base">
                                        <p:cTn id="35" dur="1000"/>
                                        <p:tgtEl>
                                          <p:spTgt spid="210"/>
                                        </p:tgtEl>
                                        <p:attrNameLst>
                                          <p:attrName>ppt_w</p:attrName>
                                        </p:attrNameLst>
                                      </p:cBhvr>
                                      <p:tavLst>
                                        <p:tav tm="0">
                                          <p:val>
                                            <p:strVal val="0"/>
                                          </p:val>
                                        </p:tav>
                                        <p:tav tm="100000">
                                          <p:val>
                                            <p:strVal val="#ppt_w"/>
                                          </p:val>
                                        </p:tav>
                                      </p:tavLst>
                                    </p:anim>
                                    <p:anim calcmode="lin" valueType="num">
                                      <p:cBhvr additive="base">
                                        <p:cTn id="36" dur="1000"/>
                                        <p:tgtEl>
                                          <p:spTgt spid="210"/>
                                        </p:tgtEl>
                                        <p:attrNameLst>
                                          <p:attrName>ppt_h</p:attrName>
                                        </p:attrNameLst>
                                      </p:cBhvr>
                                      <p:tavLst>
                                        <p:tav tm="0">
                                          <p:val>
                                            <p:strVal val="0"/>
                                          </p:val>
                                        </p:tav>
                                        <p:tav tm="100000">
                                          <p:val>
                                            <p:strVal val="#ppt_h"/>
                                          </p:val>
                                        </p:tav>
                                      </p:tavLst>
                                    </p:anim>
                                  </p:childTnLst>
                                </p:cTn>
                              </p:par>
                              <p:par>
                                <p:cTn id="37" presetID="23" presetClass="entr" presetSubtype="16" fill="hold" nodeType="withEffect">
                                  <p:stCondLst>
                                    <p:cond delay="0"/>
                                  </p:stCondLst>
                                  <p:childTnLst>
                                    <p:set>
                                      <p:cBhvr>
                                        <p:cTn id="38" dur="1" fill="hold">
                                          <p:stCondLst>
                                            <p:cond delay="0"/>
                                          </p:stCondLst>
                                        </p:cTn>
                                        <p:tgtEl>
                                          <p:spTgt spid="211"/>
                                        </p:tgtEl>
                                        <p:attrNameLst>
                                          <p:attrName>style.visibility</p:attrName>
                                        </p:attrNameLst>
                                      </p:cBhvr>
                                      <p:to>
                                        <p:strVal val="visible"/>
                                      </p:to>
                                    </p:set>
                                    <p:anim calcmode="lin" valueType="num">
                                      <p:cBhvr additive="base">
                                        <p:cTn id="39" dur="1000"/>
                                        <p:tgtEl>
                                          <p:spTgt spid="211"/>
                                        </p:tgtEl>
                                        <p:attrNameLst>
                                          <p:attrName>ppt_w</p:attrName>
                                        </p:attrNameLst>
                                      </p:cBhvr>
                                      <p:tavLst>
                                        <p:tav tm="0">
                                          <p:val>
                                            <p:strVal val="0"/>
                                          </p:val>
                                        </p:tav>
                                        <p:tav tm="100000">
                                          <p:val>
                                            <p:strVal val="#ppt_w"/>
                                          </p:val>
                                        </p:tav>
                                      </p:tavLst>
                                    </p:anim>
                                    <p:anim calcmode="lin" valueType="num">
                                      <p:cBhvr additive="base">
                                        <p:cTn id="40" dur="1000"/>
                                        <p:tgtEl>
                                          <p:spTgt spid="211"/>
                                        </p:tgtEl>
                                        <p:attrNameLst>
                                          <p:attrName>ppt_h</p:attrName>
                                        </p:attrNameLst>
                                      </p:cBhvr>
                                      <p:tavLst>
                                        <p:tav tm="0">
                                          <p:val>
                                            <p:strVal val="0"/>
                                          </p:val>
                                        </p:tav>
                                        <p:tav tm="100000">
                                          <p:val>
                                            <p:strVal val="#ppt_h"/>
                                          </p:val>
                                        </p:tav>
                                      </p:tavLst>
                                    </p:anim>
                                  </p:childTnLst>
                                </p:cTn>
                              </p:par>
                              <p:par>
                                <p:cTn id="41" presetID="23" presetClass="entr" presetSubtype="16" fill="hold" nodeType="withEffect">
                                  <p:stCondLst>
                                    <p:cond delay="0"/>
                                  </p:stCondLst>
                                  <p:childTnLst>
                                    <p:set>
                                      <p:cBhvr>
                                        <p:cTn id="42" dur="1" fill="hold">
                                          <p:stCondLst>
                                            <p:cond delay="0"/>
                                          </p:stCondLst>
                                        </p:cTn>
                                        <p:tgtEl>
                                          <p:spTgt spid="213"/>
                                        </p:tgtEl>
                                        <p:attrNameLst>
                                          <p:attrName>style.visibility</p:attrName>
                                        </p:attrNameLst>
                                      </p:cBhvr>
                                      <p:to>
                                        <p:strVal val="visible"/>
                                      </p:to>
                                    </p:set>
                                    <p:anim calcmode="lin" valueType="num">
                                      <p:cBhvr additive="base">
                                        <p:cTn id="43" dur="1000"/>
                                        <p:tgtEl>
                                          <p:spTgt spid="213"/>
                                        </p:tgtEl>
                                        <p:attrNameLst>
                                          <p:attrName>ppt_w</p:attrName>
                                        </p:attrNameLst>
                                      </p:cBhvr>
                                      <p:tavLst>
                                        <p:tav tm="0">
                                          <p:val>
                                            <p:strVal val="0"/>
                                          </p:val>
                                        </p:tav>
                                        <p:tav tm="100000">
                                          <p:val>
                                            <p:strVal val="#ppt_w"/>
                                          </p:val>
                                        </p:tav>
                                      </p:tavLst>
                                    </p:anim>
                                    <p:anim calcmode="lin" valueType="num">
                                      <p:cBhvr additive="base">
                                        <p:cTn id="44" dur="1000"/>
                                        <p:tgtEl>
                                          <p:spTgt spid="213"/>
                                        </p:tgtEl>
                                        <p:attrNameLst>
                                          <p:attrName>ppt_h</p:attrName>
                                        </p:attrNameLst>
                                      </p:cBhvr>
                                      <p:tavLst>
                                        <p:tav tm="0">
                                          <p:val>
                                            <p:strVal val="0"/>
                                          </p:val>
                                        </p:tav>
                                        <p:tav tm="100000">
                                          <p:val>
                                            <p:strVal val="#ppt_h"/>
                                          </p:val>
                                        </p:tav>
                                      </p:tavLst>
                                    </p:anim>
                                  </p:childTnLst>
                                </p:cTn>
                              </p:par>
                            </p:childTnLst>
                          </p:cTn>
                        </p:par>
                        <p:par>
                          <p:cTn id="45" fill="hold">
                            <p:stCondLst>
                              <p:cond delay="1000"/>
                            </p:stCondLst>
                            <p:childTnLst>
                              <p:par>
                                <p:cTn id="46" presetID="23" presetClass="entr" presetSubtype="16" fill="hold" nodeType="afterEffect">
                                  <p:stCondLst>
                                    <p:cond delay="0"/>
                                  </p:stCondLst>
                                  <p:childTnLst>
                                    <p:set>
                                      <p:cBhvr>
                                        <p:cTn id="47" dur="1" fill="hold">
                                          <p:stCondLst>
                                            <p:cond delay="0"/>
                                          </p:stCondLst>
                                        </p:cTn>
                                        <p:tgtEl>
                                          <p:spTgt spid="212"/>
                                        </p:tgtEl>
                                        <p:attrNameLst>
                                          <p:attrName>style.visibility</p:attrName>
                                        </p:attrNameLst>
                                      </p:cBhvr>
                                      <p:to>
                                        <p:strVal val="visible"/>
                                      </p:to>
                                    </p:set>
                                    <p:anim calcmode="lin" valueType="num">
                                      <p:cBhvr additive="base">
                                        <p:cTn id="48" dur="3000"/>
                                        <p:tgtEl>
                                          <p:spTgt spid="212"/>
                                        </p:tgtEl>
                                        <p:attrNameLst>
                                          <p:attrName>ppt_w</p:attrName>
                                        </p:attrNameLst>
                                      </p:cBhvr>
                                      <p:tavLst>
                                        <p:tav tm="0">
                                          <p:val>
                                            <p:strVal val="0"/>
                                          </p:val>
                                        </p:tav>
                                        <p:tav tm="100000">
                                          <p:val>
                                            <p:strVal val="#ppt_w"/>
                                          </p:val>
                                        </p:tav>
                                      </p:tavLst>
                                    </p:anim>
                                    <p:anim calcmode="lin" valueType="num">
                                      <p:cBhvr additive="base">
                                        <p:cTn id="49" dur="3000"/>
                                        <p:tgtEl>
                                          <p:spTgt spid="21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Shape 218"/>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buNone/>
            </a:pPr>
            <a:r>
              <a:rPr lang="en"/>
              <a:t>Infrastructure</a:t>
            </a:r>
          </a:p>
        </p:txBody>
      </p:sp>
      <p:sp>
        <p:nvSpPr>
          <p:cNvPr id="219" name="Shape 219"/>
          <p:cNvSpPr/>
          <p:nvPr/>
        </p:nvSpPr>
        <p:spPr>
          <a:xfrm>
            <a:off x="2406800" y="1063374"/>
            <a:ext cx="4330399" cy="3990474"/>
          </a:xfrm>
          <a:prstGeom prst="rect">
            <a:avLst/>
          </a:prstGeom>
          <a:blipFill>
            <a:blip r:embed="rId3"/>
            <a:stretch>
              <a:fillRect/>
            </a:stretch>
          </a:blipFill>
        </p:spPr>
      </p:sp>
    </p:spTree>
  </p:cSld>
  <p:clrMapOvr>
    <a:masterClrMapping/>
  </p:clrMapOvr>
  <p:transition xmlns:p14="http://schemas.microsoft.com/office/powerpoint/2010/main" spd="slow">
    <p:cut/>
  </p:transition>
</p:sld>
</file>

<file path=ppt/theme/theme1.xml><?xml version="1.0" encoding="utf-8"?>
<a:theme xmlns:a="http://schemas.openxmlformats.org/drawingml/2006/main" name="simple-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1610</Words>
  <Application>Microsoft Macintosh PowerPoint</Application>
  <PresentationFormat>On-screen Show (16:9)</PresentationFormat>
  <Paragraphs>181</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simple-light</vt:lpstr>
      <vt:lpstr>Open Science Framework</vt:lpstr>
      <vt:lpstr>Schedule</vt:lpstr>
      <vt:lpstr>PowerPoint Presentation</vt:lpstr>
      <vt:lpstr>PowerPoint Presentation</vt:lpstr>
      <vt:lpstr>PowerPoint Presentation</vt:lpstr>
      <vt:lpstr>PowerPoint Presentation</vt:lpstr>
      <vt:lpstr>Scientific Ideals</vt:lpstr>
      <vt:lpstr>What’s the problem?</vt:lpstr>
      <vt:lpstr>What’s the problem?</vt:lpstr>
      <vt:lpstr>What’s the solution?</vt:lpstr>
      <vt:lpstr>PowerPoint Presentation</vt:lpstr>
      <vt:lpstr>How can we solve this?</vt:lpstr>
      <vt:lpstr>Metascience</vt:lpstr>
      <vt:lpstr>Community</vt:lpstr>
      <vt:lpstr>Community</vt:lpstr>
      <vt:lpstr>Infrastructure</vt:lpstr>
      <vt:lpstr>Infrastructure</vt:lpstr>
      <vt:lpstr>Infrastructure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Science Framework</dc:title>
  <cp:lastModifiedBy>Andrew Sallans</cp:lastModifiedBy>
  <cp:revision>2</cp:revision>
  <dcterms:modified xsi:type="dcterms:W3CDTF">2014-03-07T17:55:26Z</dcterms:modified>
</cp:coreProperties>
</file>